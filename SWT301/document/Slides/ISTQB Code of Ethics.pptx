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 id="2147483676" r:id="rId2"/>
  </p:sldMasterIdLst>
  <p:notesMasterIdLst>
    <p:notesMasterId r:id="rId9"/>
  </p:notesMasterIdLst>
  <p:sldIdLst>
    <p:sldId id="257" r:id="rId3"/>
    <p:sldId id="284" r:id="rId4"/>
    <p:sldId id="280" r:id="rId5"/>
    <p:sldId id="281" r:id="rId6"/>
    <p:sldId id="282" r:id="rId7"/>
    <p:sldId id="283"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88" d="100"/>
          <a:sy n="88" d="100"/>
        </p:scale>
        <p:origin x="1291"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CFB79-D300-4D62-B1BB-417A70210E0C}" type="datetimeFigureOut">
              <a:rPr lang="en-US" smtClean="0"/>
              <a:t>5/18/2023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28F83-BFBF-48E5-9812-FA471493D536}" type="slidenum">
              <a:rPr lang="en-US" smtClean="0"/>
              <a:t>‹#›</a:t>
            </a:fld>
            <a:endParaRPr lang="en-US"/>
          </a:p>
        </p:txBody>
      </p:sp>
    </p:spTree>
    <p:extLst>
      <p:ext uri="{BB962C8B-B14F-4D97-AF65-F5344CB8AC3E}">
        <p14:creationId xmlns:p14="http://schemas.microsoft.com/office/powerpoint/2010/main" val="139276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chemeClr val="bg1"/>
                </a:solidFill>
              </a:defRPr>
            </a:lvl1pPr>
          </a:lstStyle>
          <a:p>
            <a:fld id="{D57F1E4F-1CFF-5643-939E-217C01CDF565}" type="slidenum">
              <a:rPr lang="en-US" smtClean="0"/>
              <a:pPr/>
              <a:t>‹#›</a:t>
            </a:fld>
            <a:endParaRPr lang="en-US" dirty="0"/>
          </a:p>
        </p:txBody>
      </p:sp>
      <p:sp>
        <p:nvSpPr>
          <p:cNvPr id="3" name="Rectangle 2"/>
          <p:cNvSpPr/>
          <p:nvPr/>
        </p:nvSpPr>
        <p:spPr>
          <a:xfrm>
            <a:off x="435430"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800">
                <a:solidFill>
                  <a:srgbClr val="F47206"/>
                </a:solidFill>
                <a:latin typeface="Myriad Pro" pitchFamily="34" charset="0"/>
              </a:defRPr>
            </a:lvl1pPr>
          </a:lstStyle>
          <a:p>
            <a:r>
              <a:rPr lang="en-US" dirty="0" smtClean="0"/>
              <a:t>CLICK TO EDIT MASTER TITLE STYLE</a:t>
            </a:r>
            <a:endParaRPr lang="en-US" dirty="0"/>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userDrawn="1"/>
        </p:nvSpPr>
        <p:spPr>
          <a:xfrm>
            <a:off x="2225842" y="0"/>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3200" smtClean="0"/>
              <a:t>Click to edit Master title style</a:t>
            </a:r>
            <a:endParaRPr lang="en-US" sz="3200" dirty="0"/>
          </a:p>
        </p:txBody>
      </p:sp>
      <p:sp>
        <p:nvSpPr>
          <p:cNvPr id="13" name="Content Placeholder 2"/>
          <p:cNvSpPr>
            <a:spLocks noGrp="1"/>
          </p:cNvSpPr>
          <p:nvPr>
            <p:ph idx="1"/>
          </p:nvPr>
        </p:nvSpPr>
        <p:spPr>
          <a:xfrm>
            <a:off x="830180" y="1191126"/>
            <a:ext cx="7772399" cy="487279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3215355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D57F1E4F-1CFF-5643-939E-217C01CDF565}" type="slidenum">
              <a:rPr lang="en-US" smtClean="0"/>
              <a:pPr/>
              <a:t>‹#›</a:t>
            </a:fld>
            <a:endParaRPr lang="en-US" dirty="0"/>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2" y="1"/>
            <a:ext cx="6811691" cy="914400"/>
          </a:xfrm>
          <a:prstGeom prst="rect">
            <a:avLst/>
          </a:prstGeom>
        </p:spPr>
        <p:txBody>
          <a:bodyPr/>
          <a:lstStyle>
            <a:lvl1pPr>
              <a:defRPr sz="3600"/>
            </a:lvl1pPr>
          </a:lstStyle>
          <a:p>
            <a:r>
              <a:rPr lang="en-US" smtClean="0"/>
              <a:t>Click to edit Master title style</a:t>
            </a:r>
            <a:endParaRPr lang="en-US" dirty="0"/>
          </a:p>
        </p:txBody>
      </p:sp>
      <p:sp>
        <p:nvSpPr>
          <p:cNvPr id="10" name="Content Placeholder 2"/>
          <p:cNvSpPr>
            <a:spLocks noGrp="1"/>
          </p:cNvSpPr>
          <p:nvPr>
            <p:ph idx="1"/>
          </p:nvPr>
        </p:nvSpPr>
        <p:spPr>
          <a:xfrm>
            <a:off x="830180" y="1191126"/>
            <a:ext cx="7772399" cy="5149516"/>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0234185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D57F1E4F-1CFF-5643-939E-217C01CDF565}" type="slidenum">
              <a:rPr lang="en-US" smtClean="0"/>
              <a:pPr/>
              <a:t>‹#›</a:t>
            </a:fld>
            <a:endParaRPr lang="en-US" dirty="0"/>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0180" y="1191125"/>
            <a:ext cx="7772399"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739921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D57F1E4F-1CFF-5643-939E-217C01CDF565}" type="slidenum">
              <a:rPr lang="en-US" smtClean="0"/>
              <a:pPr/>
              <a:t>‹#›</a:t>
            </a:fld>
            <a:endParaRPr lang="en-US" dirty="0"/>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3" y="0"/>
            <a:ext cx="6811691" cy="914401"/>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8201" y="1230714"/>
            <a:ext cx="7772399" cy="4957011"/>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674020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D57F1E4F-1CFF-5643-939E-217C01CDF565}" type="slidenum">
              <a:rPr lang="en-US" smtClean="0"/>
              <a:pPr/>
              <a:t>‹#›</a:t>
            </a:fld>
            <a:endParaRPr lang="en-US" dirty="0"/>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4" y="0"/>
            <a:ext cx="6927680"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697832" y="1191125"/>
            <a:ext cx="7904747"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4658074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1"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752345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a:prstGeom prst="rect">
            <a:avLst/>
          </a:prstGeom>
        </p:spPr>
        <p:txBody>
          <a:bodyPr anchor="b">
            <a:normAutofit/>
          </a:bodyPr>
          <a:lstStyle>
            <a:lvl1pPr>
              <a:defRPr sz="405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a:prstGeom prst="rect">
            <a:avLst/>
          </a:prstGeo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B61BEF0D-F0BB-DE4B-95CE-6DB70DBA9567}" type="datetimeFigureOut">
              <a:rPr lang="en-US" dirty="0"/>
              <a:pPr/>
              <a:t>5/18/2023</a:t>
            </a:fld>
            <a:endParaRPr lang="en-US" dirty="0"/>
          </a:p>
        </p:txBody>
      </p:sp>
      <p:sp>
        <p:nvSpPr>
          <p:cNvPr id="5" name="Footer Placeholder 4"/>
          <p:cNvSpPr>
            <a:spLocks noGrp="1"/>
          </p:cNvSpPr>
          <p:nvPr>
            <p:ph type="ftr" sz="quarter" idx="11"/>
          </p:nvPr>
        </p:nvSpPr>
        <p:spPr>
          <a:xfrm>
            <a:off x="1941910" y="6135809"/>
            <a:ext cx="571499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398860" y="4529541"/>
            <a:ext cx="584825"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9184765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25842" y="10499"/>
            <a:ext cx="6811691" cy="1052161"/>
          </a:xfrm>
          <a:prstGeom prst="rect">
            <a:avLst/>
          </a:prstGeom>
        </p:spPr>
        <p:txBody>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255042" y="6130437"/>
            <a:ext cx="1347537" cy="370396"/>
          </a:xfrm>
          <a:prstGeom prst="rect">
            <a:avLst/>
          </a:prstGeom>
        </p:spPr>
        <p:txBody>
          <a:bodyPr/>
          <a:lstStyle/>
          <a:p>
            <a:fld id="{B61BEF0D-F0BB-DE4B-95CE-6DB70DBA9567}" type="datetimeFigureOut">
              <a:rPr lang="en-US" dirty="0"/>
              <a:pPr/>
              <a:t>5/18/2023</a:t>
            </a:fld>
            <a:endParaRPr lang="en-US" dirty="0"/>
          </a:p>
        </p:txBody>
      </p:sp>
      <p:sp>
        <p:nvSpPr>
          <p:cNvPr id="5" name="Footer Placeholder 4"/>
          <p:cNvSpPr>
            <a:spLocks noGrp="1"/>
          </p:cNvSpPr>
          <p:nvPr>
            <p:ph type="ftr" sz="quarter" idx="11"/>
          </p:nvPr>
        </p:nvSpPr>
        <p:spPr>
          <a:xfrm>
            <a:off x="830180" y="6135809"/>
            <a:ext cx="682673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862841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344312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822840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146423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260307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514437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05455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541896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847061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238403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2"/>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620097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5/18/2023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03036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825">
                <a:solidFill>
                  <a:schemeClr val="bg1"/>
                </a:solidFill>
              </a:defRPr>
            </a:lvl1pPr>
          </a:lstStyle>
          <a:p>
            <a:fld id="{D57F1E4F-1CFF-5643-939E-217C01CDF565}" type="slidenum">
              <a:rPr lang="en-US" smtClean="0"/>
              <a:pPr/>
              <a:t>‹#›</a:t>
            </a:fld>
            <a:endParaRPr lang="en-US" dirty="0"/>
          </a:p>
        </p:txBody>
      </p:sp>
      <p:pic>
        <p:nvPicPr>
          <p:cNvPr id="5" name="Picture 2" descr="E:\Kienlh\2018\Thuong-Hieu\Đại hôi cổ đông\logo-en.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1529" y="42289"/>
            <a:ext cx="2258580" cy="845782"/>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a:spLocks/>
          </p:cNvSpPr>
          <p:nvPr/>
        </p:nvSpPr>
        <p:spPr>
          <a:xfrm>
            <a:off x="2438400" y="301627"/>
            <a:ext cx="6705600" cy="688975"/>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2000" b="1" kern="1200">
                <a:solidFill>
                  <a:srgbClr val="0066B2"/>
                </a:solidFill>
                <a:latin typeface="Myriad Pro" pitchFamily="34" charset="0"/>
                <a:ea typeface="+mj-ea"/>
                <a:cs typeface="+mj-cs"/>
              </a:defRPr>
            </a:lvl1pPr>
          </a:lstStyle>
          <a:p>
            <a:endParaRPr lang="en-US" sz="2700" dirty="0"/>
          </a:p>
        </p:txBody>
      </p:sp>
      <p:cxnSp>
        <p:nvCxnSpPr>
          <p:cNvPr id="6" name="Straight Connector 5"/>
          <p:cNvCxnSpPr/>
          <p:nvPr userDrawn="1"/>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userDrawn="1"/>
        </p:nvSpPr>
        <p:spPr>
          <a:xfrm>
            <a:off x="2225842" y="166909"/>
            <a:ext cx="6811691" cy="1326753"/>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dirty="0"/>
          </a:p>
        </p:txBody>
      </p:sp>
    </p:spTree>
    <p:extLst>
      <p:ext uri="{BB962C8B-B14F-4D97-AF65-F5344CB8AC3E}">
        <p14:creationId xmlns:p14="http://schemas.microsoft.com/office/powerpoint/2010/main" val="26081132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timing>
    <p:tnLst>
      <p:par>
        <p:cTn id="1" dur="indefinite" restart="never" nodeType="tmRoot"/>
      </p:par>
    </p:tnLst>
  </p:timing>
  <p:txStyles>
    <p:title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4"/>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81030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1189" y="2081348"/>
            <a:ext cx="7827270" cy="1467080"/>
          </a:xfrm>
        </p:spPr>
        <p:txBody>
          <a:bodyPr>
            <a:normAutofit/>
          </a:bodyPr>
          <a:lstStyle/>
          <a:p>
            <a:r>
              <a:rPr lang="en-US" sz="4400" b="0" dirty="0"/>
              <a:t>ISTQB Code of Ethics</a:t>
            </a:r>
            <a:endParaRPr lang="en-US" sz="4400" i="1"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374514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ISTQB Code of Ethics</a:t>
            </a:r>
            <a:endParaRPr lang="en-US" dirty="0"/>
          </a:p>
        </p:txBody>
      </p:sp>
      <p:sp>
        <p:nvSpPr>
          <p:cNvPr id="3" name="Content Placeholder 2"/>
          <p:cNvSpPr>
            <a:spLocks noGrp="1"/>
          </p:cNvSpPr>
          <p:nvPr>
            <p:ph idx="1"/>
          </p:nvPr>
        </p:nvSpPr>
        <p:spPr>
          <a:xfrm>
            <a:off x="830180" y="1191126"/>
            <a:ext cx="7772399" cy="5418680"/>
          </a:xfrm>
        </p:spPr>
        <p:txBody>
          <a:bodyPr/>
          <a:lstStyle/>
          <a:p>
            <a:r>
              <a:rPr lang="en-US" sz="2600" b="1" dirty="0"/>
              <a:t>PUBLIC</a:t>
            </a:r>
            <a:r>
              <a:rPr lang="en-US" sz="2600" dirty="0"/>
              <a:t> - Certified software testers shall act consistently in the public interest.</a:t>
            </a:r>
          </a:p>
          <a:p>
            <a:r>
              <a:rPr lang="en-US" sz="2600" b="1" dirty="0"/>
              <a:t>CLIENT AND EMPLOYER </a:t>
            </a:r>
            <a:r>
              <a:rPr lang="en-US" sz="2600" dirty="0"/>
              <a:t>- Certified software testers shall act in a manner that is in the best interests of their client and employer, consistent with the public interest.</a:t>
            </a:r>
          </a:p>
          <a:p>
            <a:r>
              <a:rPr lang="en-US" sz="2600" b="1" dirty="0"/>
              <a:t>PRODUCT</a:t>
            </a:r>
            <a:r>
              <a:rPr lang="en-US" sz="2600" dirty="0"/>
              <a:t> - Certified software testers shall ensure that the deliverables they provide (on the products and systems they test) meet the highest professional standards possible.</a:t>
            </a:r>
          </a:p>
          <a:p>
            <a:r>
              <a:rPr lang="en-US" sz="2600" b="1" dirty="0"/>
              <a:t>JUDGMENT</a:t>
            </a:r>
            <a:r>
              <a:rPr lang="en-US" sz="2600" dirty="0"/>
              <a:t> - Certified software testers shall maintain integrity and independence in their professional judgment</a:t>
            </a:r>
            <a:r>
              <a:rPr lang="en-US" sz="2600" dirty="0" smtClean="0"/>
              <a:t>.</a:t>
            </a:r>
            <a:endParaRPr lang="en-US" sz="2600" dirty="0"/>
          </a:p>
        </p:txBody>
      </p:sp>
    </p:spTree>
    <p:extLst>
      <p:ext uri="{BB962C8B-B14F-4D97-AF65-F5344CB8AC3E}">
        <p14:creationId xmlns:p14="http://schemas.microsoft.com/office/powerpoint/2010/main" val="41823852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ISTQB Code of Ethics</a:t>
            </a:r>
            <a:endParaRPr lang="en-US" dirty="0"/>
          </a:p>
        </p:txBody>
      </p:sp>
      <p:sp>
        <p:nvSpPr>
          <p:cNvPr id="3" name="Content Placeholder 2"/>
          <p:cNvSpPr>
            <a:spLocks noGrp="1"/>
          </p:cNvSpPr>
          <p:nvPr>
            <p:ph idx="1"/>
          </p:nvPr>
        </p:nvSpPr>
        <p:spPr>
          <a:xfrm>
            <a:off x="830180" y="1191125"/>
            <a:ext cx="7772399" cy="5375137"/>
          </a:xfrm>
        </p:spPr>
        <p:txBody>
          <a:bodyPr/>
          <a:lstStyle/>
          <a:p>
            <a:r>
              <a:rPr lang="en-US" sz="2600" b="1" dirty="0" smtClean="0"/>
              <a:t>MANAGEMENT</a:t>
            </a:r>
            <a:r>
              <a:rPr lang="en-US" sz="2600" dirty="0" smtClean="0"/>
              <a:t> </a:t>
            </a:r>
            <a:r>
              <a:rPr lang="en-US" sz="2600" dirty="0"/>
              <a:t>- Certified software test managers and leaders shall subscribe to and promote an ethical approach to the management of software testing.</a:t>
            </a:r>
          </a:p>
          <a:p>
            <a:r>
              <a:rPr lang="en-US" sz="2600" b="1" dirty="0"/>
              <a:t>PROFESSION</a:t>
            </a:r>
            <a:r>
              <a:rPr lang="en-US" sz="2600" dirty="0"/>
              <a:t> - Certified software testers shall advance the integrity and reputation of the profession consistent with the public interest.</a:t>
            </a:r>
          </a:p>
          <a:p>
            <a:r>
              <a:rPr lang="en-US" sz="2600" b="1" dirty="0"/>
              <a:t>COLLEAGUES</a:t>
            </a:r>
            <a:r>
              <a:rPr lang="en-US" sz="2600" dirty="0"/>
              <a:t> - Certified software testers shall be fair to and supportive of their colleagues, and promote cooperation with software developers.</a:t>
            </a:r>
          </a:p>
          <a:p>
            <a:r>
              <a:rPr lang="en-US" sz="2600" b="1" dirty="0"/>
              <a:t>SELF</a:t>
            </a:r>
            <a:r>
              <a:rPr lang="en-US" sz="2600" dirty="0"/>
              <a:t> - Certified software testers shall participate in lifelong learning regarding the practice of their profession and shall promote an ethical approach to the practice of the profession.</a:t>
            </a:r>
          </a:p>
        </p:txBody>
      </p:sp>
    </p:spTree>
    <p:extLst>
      <p:ext uri="{BB962C8B-B14F-4D97-AF65-F5344CB8AC3E}">
        <p14:creationId xmlns:p14="http://schemas.microsoft.com/office/powerpoint/2010/main" val="1084884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Tình</a:t>
            </a:r>
            <a:r>
              <a:rPr lang="en-US" dirty="0" smtClean="0"/>
              <a:t> </a:t>
            </a:r>
            <a:r>
              <a:rPr lang="en-US" dirty="0" err="1" smtClean="0"/>
              <a:t>huống</a:t>
            </a:r>
            <a:r>
              <a:rPr lang="en-US" dirty="0" smtClean="0"/>
              <a:t> 1</a:t>
            </a:r>
            <a:endParaRPr lang="en-US" dirty="0"/>
          </a:p>
        </p:txBody>
      </p:sp>
      <p:sp>
        <p:nvSpPr>
          <p:cNvPr id="3" name="Content Placeholder 2"/>
          <p:cNvSpPr>
            <a:spLocks noGrp="1"/>
          </p:cNvSpPr>
          <p:nvPr>
            <p:ph idx="1"/>
          </p:nvPr>
        </p:nvSpPr>
        <p:spPr>
          <a:xfrm>
            <a:off x="830180" y="1191125"/>
            <a:ext cx="7772399" cy="5375137"/>
          </a:xfrm>
        </p:spPr>
        <p:txBody>
          <a:bodyPr/>
          <a:lstStyle/>
          <a:p>
            <a:pPr marL="0" indent="0">
              <a:buNone/>
            </a:pPr>
            <a:r>
              <a:rPr lang="vi-VN" sz="2800" dirty="0"/>
              <a:t>Trong quá trình kiểm thử phần mềm, bạn tìm thấy một lỗi, mà lỗi đó ảnh hưởng đến chức năng quan trọng của người dùng hệ thống. Trong khi đó hệ thống sẽ được phát hành vào hai ngày nữa, và sửa lỗi thì sẽ trì hoãn cho việc phát hành này. Vậy bạn có báo cáo lỗi hay không?</a:t>
            </a:r>
            <a:endParaRPr lang="en-US" sz="2800" dirty="0"/>
          </a:p>
        </p:txBody>
      </p:sp>
    </p:spTree>
    <p:extLst>
      <p:ext uri="{BB962C8B-B14F-4D97-AF65-F5344CB8AC3E}">
        <p14:creationId xmlns:p14="http://schemas.microsoft.com/office/powerpoint/2010/main" val="147397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Tình</a:t>
            </a:r>
            <a:r>
              <a:rPr lang="en-US" dirty="0" smtClean="0"/>
              <a:t> </a:t>
            </a:r>
            <a:r>
              <a:rPr lang="en-US" dirty="0" err="1" smtClean="0"/>
              <a:t>huống</a:t>
            </a:r>
            <a:r>
              <a:rPr lang="en-US" dirty="0" smtClean="0"/>
              <a:t> 2</a:t>
            </a:r>
            <a:endParaRPr lang="en-US" dirty="0"/>
          </a:p>
        </p:txBody>
      </p:sp>
      <p:sp>
        <p:nvSpPr>
          <p:cNvPr id="3" name="Content Placeholder 2"/>
          <p:cNvSpPr>
            <a:spLocks noGrp="1"/>
          </p:cNvSpPr>
          <p:nvPr>
            <p:ph idx="1"/>
          </p:nvPr>
        </p:nvSpPr>
        <p:spPr>
          <a:xfrm>
            <a:off x="830180" y="1191125"/>
            <a:ext cx="7772399" cy="5375137"/>
          </a:xfrm>
        </p:spPr>
        <p:txBody>
          <a:bodyPr/>
          <a:lstStyle/>
          <a:p>
            <a:pPr marL="0" indent="0">
              <a:buNone/>
            </a:pPr>
            <a:r>
              <a:rPr lang="vi-VN" sz="2800" dirty="0"/>
              <a:t>Bạn đang kiểm thử một ứng dụng đã được phát triển cho một công ty của bạn bởi một công ty bên ngoài, theo hợp đồng. Nhà thầu gợi ý rằng nếu bạn không đào sâu và </a:t>
            </a:r>
            <a:r>
              <a:rPr lang="vi-VN" sz="2800" dirty="0" smtClean="0"/>
              <a:t>báo </a:t>
            </a:r>
            <a:r>
              <a:rPr lang="vi-VN" sz="2800" dirty="0"/>
              <a:t>cáo rằng phần mềm không có lỗi, nó sẽ tác động tích cực về tài chính vào tài khoản ngân hàng của bạn. Bạn có làm theo yêu cầu không?</a:t>
            </a:r>
            <a:endParaRPr lang="en-US" sz="2800" dirty="0"/>
          </a:p>
        </p:txBody>
      </p:sp>
    </p:spTree>
    <p:extLst>
      <p:ext uri="{BB962C8B-B14F-4D97-AF65-F5344CB8AC3E}">
        <p14:creationId xmlns:p14="http://schemas.microsoft.com/office/powerpoint/2010/main" val="8988829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Tình</a:t>
            </a:r>
            <a:r>
              <a:rPr lang="en-US" dirty="0" smtClean="0"/>
              <a:t> </a:t>
            </a:r>
            <a:r>
              <a:rPr lang="en-US" dirty="0" err="1" smtClean="0"/>
              <a:t>huống</a:t>
            </a:r>
            <a:r>
              <a:rPr lang="en-US" dirty="0" smtClean="0"/>
              <a:t> 3</a:t>
            </a:r>
            <a:endParaRPr lang="en-US" dirty="0"/>
          </a:p>
        </p:txBody>
      </p:sp>
      <p:sp>
        <p:nvSpPr>
          <p:cNvPr id="3" name="Content Placeholder 2"/>
          <p:cNvSpPr>
            <a:spLocks noGrp="1"/>
          </p:cNvSpPr>
          <p:nvPr>
            <p:ph idx="1"/>
          </p:nvPr>
        </p:nvSpPr>
        <p:spPr>
          <a:xfrm>
            <a:off x="830180" y="1191125"/>
            <a:ext cx="7772399" cy="5375137"/>
          </a:xfrm>
        </p:spPr>
        <p:txBody>
          <a:bodyPr/>
          <a:lstStyle/>
          <a:p>
            <a:pPr marL="0" indent="0">
              <a:buNone/>
            </a:pPr>
            <a:r>
              <a:rPr lang="vi-VN" sz="2200" dirty="0"/>
              <a:t>Một công ty lớn đã điều tra lựa chọn đầu tư vào việc khởi nghiệp. Công ty đã chỉ định Joe điều phối công việc đánh giá. Joe nhìn vào quá trình khởi nghiệp, càng nhìn vào ông càng trở nên tin tưởng rằng đầu tư là một ý tưởng hay. Tuy nhiên, để chắc chắn 100%, ông đã nhờ Jane, một người kiểm thử phần mềm, thực hiện một chu trình thử nghiệm ngắn trên mẫu thử nghiệm của sản phẩm khởi đầu. Jane chạy một số xét nghiệm và kết luận</a:t>
            </a:r>
            <a:r>
              <a:rPr lang="vi-VN" sz="2200" dirty="0" smtClean="0"/>
              <a:t>:</a:t>
            </a:r>
            <a:endParaRPr lang="en-US" sz="2200" dirty="0" smtClean="0"/>
          </a:p>
          <a:p>
            <a:r>
              <a:rPr lang="vi-VN" sz="2200" dirty="0"/>
              <a:t>Nói chung, giải pháp được cung cấp bởi sự khởi đầu là hoạt động tốt.</a:t>
            </a:r>
          </a:p>
          <a:p>
            <a:r>
              <a:rPr lang="vi-VN" sz="2200" dirty="0"/>
              <a:t>Các kết quả tốt hơn đáng kể so với các giải pháp khác mà Jane đã kiểm tra trong quá khứ</a:t>
            </a:r>
          </a:p>
          <a:p>
            <a:r>
              <a:rPr lang="vi-VN" sz="2200" dirty="0"/>
              <a:t>Có một khía cạnh mà kết quả là kỳ lạ; cần nhiều thời gian hơn và cần nhiều thử nghiệm hơn để kết luận vấn đề này nghiêm trọng như thế nào?</a:t>
            </a:r>
          </a:p>
          <a:p>
            <a:pPr marL="0" indent="0">
              <a:buNone/>
            </a:pPr>
            <a:endParaRPr lang="en-US" sz="2200" dirty="0"/>
          </a:p>
        </p:txBody>
      </p:sp>
    </p:spTree>
    <p:extLst>
      <p:ext uri="{BB962C8B-B14F-4D97-AF65-F5344CB8AC3E}">
        <p14:creationId xmlns:p14="http://schemas.microsoft.com/office/powerpoint/2010/main" val="290092943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 id="{E47A677D-E52F-45FC-9090-F05AAD03D818}" vid="{B9C4DED7-E0BA-4BCD-B007-94155436C635}"/>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1205</TotalTime>
  <Words>515</Words>
  <Application>Microsoft Office PowerPoint</Application>
  <PresentationFormat>On-screen Show (4:3)</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Myriad Pro</vt:lpstr>
      <vt:lpstr>Arial</vt:lpstr>
      <vt:lpstr>Calibri</vt:lpstr>
      <vt:lpstr>Tahoma</vt:lpstr>
      <vt:lpstr>Theme</vt:lpstr>
      <vt:lpstr>Custom Design</vt:lpstr>
      <vt:lpstr>ISTQB Code of Ethics</vt:lpstr>
      <vt:lpstr>ISTQB Code of Ethics</vt:lpstr>
      <vt:lpstr>ISTQB Code of Ethics</vt:lpstr>
      <vt:lpstr>Tình huống 1</vt:lpstr>
      <vt:lpstr>Tình huống 2</vt:lpstr>
      <vt:lpstr>Tình huống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essential of software requirement</dc:title>
  <dc:creator>Huong</dc:creator>
  <cp:lastModifiedBy>NhanDT2</cp:lastModifiedBy>
  <cp:revision>44</cp:revision>
  <dcterms:created xsi:type="dcterms:W3CDTF">2018-04-12T06:52:22Z</dcterms:created>
  <dcterms:modified xsi:type="dcterms:W3CDTF">2023-05-18T04:03:06Z</dcterms:modified>
</cp:coreProperties>
</file>