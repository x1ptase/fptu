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  <p:sldMasterId id="2147483681" r:id="rId2"/>
  </p:sldMasterIdLst>
  <p:sldIdLst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145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304800" y="6629400"/>
            <a:ext cx="762000" cy="228600"/>
          </a:xfrm>
          <a:prstGeom prst="rect">
            <a:avLst/>
          </a:prstGeom>
        </p:spPr>
        <p:txBody>
          <a:bodyPr/>
          <a:lstStyle>
            <a:lvl1pPr algn="l">
              <a:defRPr sz="825">
                <a:solidFill>
                  <a:schemeClr val="bg1"/>
                </a:solidFill>
              </a:defRPr>
            </a:lvl1pPr>
          </a:lstStyle>
          <a:p>
            <a:fld id="{C41C7A9A-DA78-46F2-8B34-3BF0B04EFD0C}" type="slidenum">
              <a:rPr lang="en-US" smtClean="0"/>
              <a:t>‹#›</a:t>
            </a:fld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435430" y="415492"/>
            <a:ext cx="174171" cy="194108"/>
          </a:xfrm>
          <a:prstGeom prst="rect">
            <a:avLst/>
          </a:prstGeom>
          <a:solidFill>
            <a:srgbClr val="FF5C0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685800" y="228600"/>
            <a:ext cx="5638800" cy="457200"/>
          </a:xfrm>
          <a:prstGeom prst="rect">
            <a:avLst/>
          </a:prstGeom>
        </p:spPr>
        <p:txBody>
          <a:bodyPr/>
          <a:lstStyle>
            <a:lvl1pPr algn="l">
              <a:defRPr sz="1800">
                <a:solidFill>
                  <a:srgbClr val="F47206"/>
                </a:solidFill>
                <a:latin typeface="Myriad Pro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cxnSp>
        <p:nvCxnSpPr>
          <p:cNvPr id="7" name="Straight Connector 6"/>
          <p:cNvCxnSpPr/>
          <p:nvPr/>
        </p:nvCxnSpPr>
        <p:spPr>
          <a:xfrm>
            <a:off x="601134" y="997155"/>
            <a:ext cx="8009466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2" descr="E:\Kienlh\2018\Thuong-Hieu\Đại hôi cổ đông\logo-en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828" y="194689"/>
            <a:ext cx="2142909" cy="8024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 descr="D:\2014\FCC\Slide FPT for Global\Line ngang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625612"/>
            <a:ext cx="9144000" cy="232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itle 1"/>
          <p:cNvSpPr txBox="1">
            <a:spLocks/>
          </p:cNvSpPr>
          <p:nvPr/>
        </p:nvSpPr>
        <p:spPr>
          <a:xfrm>
            <a:off x="2225842" y="0"/>
            <a:ext cx="6811691" cy="997155"/>
          </a:xfrm>
          <a:prstGeom prst="rect">
            <a:avLst/>
          </a:prstGeom>
        </p:spPr>
        <p:txBody>
          <a:bodyPr/>
          <a:lstStyle>
            <a:lvl1pPr algn="ctr" defTabSz="685800" rtl="0" eaLnBrk="1" latinLnBrk="0" hangingPunct="1">
              <a:spcBef>
                <a:spcPct val="0"/>
              </a:spcBef>
              <a:buNone/>
              <a:defRPr sz="3600" b="1" kern="1200">
                <a:solidFill>
                  <a:srgbClr val="0066B2"/>
                </a:solidFill>
                <a:latin typeface="Myriad Pro" pitchFamily="34" charset="0"/>
                <a:ea typeface="+mj-ea"/>
                <a:cs typeface="+mj-cs"/>
              </a:defRPr>
            </a:lvl1pPr>
          </a:lstStyle>
          <a:p>
            <a:r>
              <a:rPr lang="en-US" sz="3200" smtClean="0"/>
              <a:t>Click to edit Master title style</a:t>
            </a:r>
            <a:endParaRPr lang="en-US" sz="3200" dirty="0"/>
          </a:p>
        </p:txBody>
      </p:sp>
      <p:sp>
        <p:nvSpPr>
          <p:cNvPr id="13" name="Content Placeholder 2"/>
          <p:cNvSpPr>
            <a:spLocks noGrp="1"/>
          </p:cNvSpPr>
          <p:nvPr>
            <p:ph idx="1"/>
          </p:nvPr>
        </p:nvSpPr>
        <p:spPr>
          <a:xfrm>
            <a:off x="830180" y="1191126"/>
            <a:ext cx="7772399" cy="487279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266015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304800" y="6629400"/>
            <a:ext cx="762000" cy="228600"/>
          </a:xfrm>
          <a:prstGeom prst="rect">
            <a:avLst/>
          </a:prstGeom>
        </p:spPr>
        <p:txBody>
          <a:bodyPr/>
          <a:lstStyle>
            <a:lvl1pPr algn="l">
              <a:defRPr sz="825">
                <a:solidFill>
                  <a:srgbClr val="F85B14"/>
                </a:solidFill>
              </a:defRPr>
            </a:lvl1pPr>
          </a:lstStyle>
          <a:p>
            <a:fld id="{C41C7A9A-DA78-46F2-8B34-3BF0B04EFD0C}" type="slidenum">
              <a:rPr lang="en-US" smtClean="0"/>
              <a:t>‹#›</a:t>
            </a:fld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-152400" y="0"/>
            <a:ext cx="9448800" cy="7010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424" y="0"/>
            <a:ext cx="2021977" cy="990600"/>
          </a:xfrm>
          <a:prstGeom prst="rect">
            <a:avLst/>
          </a:prstGeom>
        </p:spPr>
      </p:pic>
      <p:cxnSp>
        <p:nvCxnSpPr>
          <p:cNvPr id="6" name="Straight Connector 5"/>
          <p:cNvCxnSpPr/>
          <p:nvPr/>
        </p:nvCxnSpPr>
        <p:spPr>
          <a:xfrm>
            <a:off x="601134" y="914400"/>
            <a:ext cx="8009466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4" descr="D:\2014\FCC\Slide FPT for Global\Line ngang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2400" y="6770266"/>
            <a:ext cx="9448800" cy="2401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2225842" y="1"/>
            <a:ext cx="6811691" cy="914400"/>
          </a:xfrm>
          <a:prstGeom prst="rect">
            <a:avLst/>
          </a:prstGeom>
        </p:spPr>
        <p:txBody>
          <a:bodyPr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idx="1"/>
          </p:nvPr>
        </p:nvSpPr>
        <p:spPr>
          <a:xfrm>
            <a:off x="830180" y="1191126"/>
            <a:ext cx="7772399" cy="514951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076782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304800" y="6629400"/>
            <a:ext cx="762000" cy="228600"/>
          </a:xfrm>
          <a:prstGeom prst="rect">
            <a:avLst/>
          </a:prstGeom>
        </p:spPr>
        <p:txBody>
          <a:bodyPr/>
          <a:lstStyle>
            <a:lvl1pPr algn="l">
              <a:defRPr sz="825">
                <a:solidFill>
                  <a:srgbClr val="F85B14"/>
                </a:solidFill>
              </a:defRPr>
            </a:lvl1pPr>
          </a:lstStyle>
          <a:p>
            <a:fld id="{C41C7A9A-DA78-46F2-8B34-3BF0B04EFD0C}" type="slidenum">
              <a:rPr lang="en-US" smtClean="0"/>
              <a:t>‹#›</a:t>
            </a:fld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-152400" y="0"/>
            <a:ext cx="9448800" cy="7010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424" y="0"/>
            <a:ext cx="2021977" cy="990600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601134" y="914400"/>
            <a:ext cx="8009466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4" descr="D:\2014\FCC\Slide FPT for Global\Line ngang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2400" y="6770266"/>
            <a:ext cx="9448800" cy="2401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2225842" y="0"/>
            <a:ext cx="6811691" cy="914400"/>
          </a:xfrm>
          <a:prstGeom prst="rect">
            <a:avLst/>
          </a:prstGeom>
        </p:spPr>
        <p:txBody>
          <a:bodyPr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"/>
          </p:nvPr>
        </p:nvSpPr>
        <p:spPr>
          <a:xfrm>
            <a:off x="830180" y="1191125"/>
            <a:ext cx="7772399" cy="512545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655900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304800" y="6629400"/>
            <a:ext cx="762000" cy="228600"/>
          </a:xfrm>
          <a:prstGeom prst="rect">
            <a:avLst/>
          </a:prstGeom>
        </p:spPr>
        <p:txBody>
          <a:bodyPr/>
          <a:lstStyle>
            <a:lvl1pPr algn="l">
              <a:defRPr sz="825">
                <a:solidFill>
                  <a:srgbClr val="F85B14"/>
                </a:solidFill>
              </a:defRPr>
            </a:lvl1pPr>
          </a:lstStyle>
          <a:p>
            <a:fld id="{C41C7A9A-DA78-46F2-8B34-3BF0B04EFD0C}" type="slidenum">
              <a:rPr lang="en-US" smtClean="0"/>
              <a:t>‹#›</a:t>
            </a:fld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-152400" y="0"/>
            <a:ext cx="9448800" cy="7010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424" y="0"/>
            <a:ext cx="2021977" cy="990600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601134" y="914400"/>
            <a:ext cx="8009466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4" descr="D:\2014\FCC\Slide FPT for Global\Line ngang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2400" y="6770266"/>
            <a:ext cx="9448800" cy="2401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2233863" y="0"/>
            <a:ext cx="6811691" cy="914401"/>
          </a:xfrm>
          <a:prstGeom prst="rect">
            <a:avLst/>
          </a:prstGeom>
        </p:spPr>
        <p:txBody>
          <a:bodyPr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"/>
          </p:nvPr>
        </p:nvSpPr>
        <p:spPr>
          <a:xfrm>
            <a:off x="838201" y="1230714"/>
            <a:ext cx="7772399" cy="495701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071445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304800" y="6629400"/>
            <a:ext cx="762000" cy="228600"/>
          </a:xfrm>
          <a:prstGeom prst="rect">
            <a:avLst/>
          </a:prstGeom>
        </p:spPr>
        <p:txBody>
          <a:bodyPr/>
          <a:lstStyle>
            <a:lvl1pPr algn="l">
              <a:defRPr sz="825">
                <a:solidFill>
                  <a:srgbClr val="F85B14"/>
                </a:solidFill>
              </a:defRPr>
            </a:lvl1pPr>
          </a:lstStyle>
          <a:p>
            <a:fld id="{C41C7A9A-DA78-46F2-8B34-3BF0B04EFD0C}" type="slidenum">
              <a:rPr lang="en-US" smtClean="0"/>
              <a:t>‹#›</a:t>
            </a:fld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-152400" y="0"/>
            <a:ext cx="9448800" cy="7010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424" y="0"/>
            <a:ext cx="2021977" cy="990600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601134" y="914400"/>
            <a:ext cx="8009466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4" descr="D:\2014\FCC\Slide FPT for Global\Line ngang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2400" y="6770266"/>
            <a:ext cx="9448800" cy="2401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2109854" y="0"/>
            <a:ext cx="6927680" cy="914400"/>
          </a:xfrm>
          <a:prstGeom prst="rect">
            <a:avLst/>
          </a:prstGeom>
        </p:spPr>
        <p:txBody>
          <a:bodyPr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"/>
          </p:nvPr>
        </p:nvSpPr>
        <p:spPr>
          <a:xfrm>
            <a:off x="697832" y="1191125"/>
            <a:ext cx="7904747" cy="512545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835858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C7A9A-DA78-46F2-8B34-3BF0B04EFD0C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424" y="0"/>
            <a:ext cx="2021977" cy="990600"/>
          </a:xfrm>
          <a:prstGeom prst="rect">
            <a:avLst/>
          </a:prstGeom>
        </p:spPr>
      </p:pic>
      <p:cxnSp>
        <p:nvCxnSpPr>
          <p:cNvPr id="7" name="Straight Connector 6"/>
          <p:cNvCxnSpPr/>
          <p:nvPr/>
        </p:nvCxnSpPr>
        <p:spPr>
          <a:xfrm>
            <a:off x="601134" y="914400"/>
            <a:ext cx="8009466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4" descr="D:\2014\FCC\Slide FPT for Global\Line ngang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625612"/>
            <a:ext cx="9144000" cy="232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2225842" y="0"/>
            <a:ext cx="6811691" cy="914400"/>
          </a:xfrm>
          <a:prstGeom prst="rect">
            <a:avLst/>
          </a:prstGeom>
        </p:spPr>
        <p:txBody>
          <a:bodyPr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Content Placeholder 2"/>
          <p:cNvSpPr>
            <a:spLocks noGrp="1"/>
          </p:cNvSpPr>
          <p:nvPr>
            <p:ph idx="1"/>
          </p:nvPr>
        </p:nvSpPr>
        <p:spPr>
          <a:xfrm>
            <a:off x="830180" y="1191126"/>
            <a:ext cx="7772399" cy="470434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296083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1910" y="2514601"/>
            <a:ext cx="6686549" cy="2262781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405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1910" y="4777380"/>
            <a:ext cx="6686549" cy="1126283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771210" y="6130437"/>
            <a:ext cx="859712" cy="370396"/>
          </a:xfrm>
          <a:prstGeom prst="rect">
            <a:avLst/>
          </a:prstGeom>
        </p:spPr>
        <p:txBody>
          <a:bodyPr/>
          <a:lstStyle/>
          <a:p>
            <a:fld id="{0F011E8C-4FEC-44EC-8559-2E7004E51FCD}" type="datetimeFigureOut">
              <a:rPr lang="en-US" smtClean="0"/>
              <a:t>7/13/2022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41910" y="6135809"/>
            <a:ext cx="5714999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4529541"/>
            <a:ext cx="584825" cy="365125"/>
          </a:xfrm>
        </p:spPr>
        <p:txBody>
          <a:bodyPr/>
          <a:lstStyle/>
          <a:p>
            <a:fld id="{C41C7A9A-DA78-46F2-8B34-3BF0B04EF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789881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25842" y="10499"/>
            <a:ext cx="6811691" cy="1052161"/>
          </a:xfrm>
          <a:prstGeom prst="rect">
            <a:avLst/>
          </a:prstGeom>
        </p:spPr>
        <p:txBody>
          <a:bodyPr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0180" y="1191126"/>
            <a:ext cx="7772399" cy="470434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255042" y="6130437"/>
            <a:ext cx="1347537" cy="370396"/>
          </a:xfrm>
          <a:prstGeom prst="rect">
            <a:avLst/>
          </a:prstGeom>
        </p:spPr>
        <p:txBody>
          <a:bodyPr/>
          <a:lstStyle/>
          <a:p>
            <a:fld id="{0F011E8C-4FEC-44EC-8559-2E7004E51FCD}" type="datetimeFigureOut">
              <a:rPr lang="en-US" smtClean="0"/>
              <a:t>7/13/2022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30180" y="6135809"/>
            <a:ext cx="682673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C7A9A-DA78-46F2-8B34-3BF0B04EF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231832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3389898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4800600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31F5B154-6733-44EE-BCED-0CE01457041A}" type="datetimeFigureOut">
              <a:rPr lang="en-US" smtClean="0"/>
              <a:t>7/13/2022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D3AF5079-2E50-44CB-9D8A-981B2820E6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36821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31F5B154-6733-44EE-BCED-0CE01457041A}" type="datetimeFigureOut">
              <a:rPr lang="en-US" smtClean="0"/>
              <a:t>7/13/2022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D3AF5079-2E50-44CB-9D8A-981B2820E6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38320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4800600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31F5B154-6733-44EE-BCED-0CE01457041A}" type="datetimeFigureOut">
              <a:rPr lang="en-US" smtClean="0"/>
              <a:t>7/13/2022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D3AF5079-2E50-44CB-9D8A-981B2820E6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91632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4800600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31F5B154-6733-44EE-BCED-0CE01457041A}" type="datetimeFigureOut">
              <a:rPr lang="en-US" smtClean="0"/>
              <a:t>7/13/2022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D3AF5079-2E50-44CB-9D8A-981B2820E6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397421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4800600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31F5B154-6733-44EE-BCED-0CE01457041A}" type="datetimeFigureOut">
              <a:rPr lang="en-US" smtClean="0"/>
              <a:t>7/13/2022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D3AF5079-2E50-44CB-9D8A-981B2820E6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7906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31F5B154-6733-44EE-BCED-0CE01457041A}" type="datetimeFigureOut">
              <a:rPr lang="en-US" smtClean="0"/>
              <a:t>7/13/2022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D3AF5079-2E50-44CB-9D8A-981B2820E6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244277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31F5B154-6733-44EE-BCED-0CE01457041A}" type="datetimeFigureOut">
              <a:rPr lang="en-US" smtClean="0"/>
              <a:t>7/13/2022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D3AF5079-2E50-44CB-9D8A-981B2820E6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138193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31F5B154-6733-44EE-BCED-0CE01457041A}" type="datetimeFigureOut">
              <a:rPr lang="en-US" smtClean="0"/>
              <a:t>7/13/2022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D3AF5079-2E50-44CB-9D8A-981B2820E6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18498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4800600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31F5B154-6733-44EE-BCED-0CE01457041A}" type="datetimeFigureOut">
              <a:rPr lang="en-US" smtClean="0"/>
              <a:t>7/13/2022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D3AF5079-2E50-44CB-9D8A-981B2820E6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660072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31F5B154-6733-44EE-BCED-0CE01457041A}" type="datetimeFigureOut">
              <a:rPr lang="en-US" smtClean="0"/>
              <a:t>7/13/2022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D3AF5079-2E50-44CB-9D8A-981B2820E6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02295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5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11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3.xml"/><Relationship Id="rId10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2.xml"/><Relationship Id="rId9" Type="http://schemas.openxmlformats.org/officeDocument/2006/relationships/slideLayout" Target="../slideLayouts/slideLayout17.xml"/><Relationship Id="rId14" Type="http://schemas.openxmlformats.org/officeDocument/2006/relationships/image" Target="../media/image4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D:\2014\FCC\Slide FPT for Global\Line ngang.png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625612"/>
            <a:ext cx="9144000" cy="232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304800" y="6629400"/>
            <a:ext cx="762000" cy="228600"/>
          </a:xfrm>
          <a:prstGeom prst="rect">
            <a:avLst/>
          </a:prstGeom>
        </p:spPr>
        <p:txBody>
          <a:bodyPr/>
          <a:lstStyle>
            <a:lvl1pPr algn="l">
              <a:defRPr sz="825">
                <a:solidFill>
                  <a:schemeClr val="bg1"/>
                </a:solidFill>
              </a:defRPr>
            </a:lvl1pPr>
          </a:lstStyle>
          <a:p>
            <a:fld id="{C41C7A9A-DA78-46F2-8B34-3BF0B04EFD0C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Picture 2" descr="E:\Kienlh\2018\Thuong-Hieu\Đại hôi cổ đông\logo-en.png"/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529" y="42289"/>
            <a:ext cx="2258580" cy="8457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itle 1"/>
          <p:cNvSpPr txBox="1">
            <a:spLocks/>
          </p:cNvSpPr>
          <p:nvPr/>
        </p:nvSpPr>
        <p:spPr>
          <a:xfrm>
            <a:off x="2438400" y="301627"/>
            <a:ext cx="6705600" cy="688975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2000" b="1" kern="1200">
                <a:solidFill>
                  <a:srgbClr val="0066B2"/>
                </a:solidFill>
                <a:latin typeface="Myriad Pro" pitchFamily="34" charset="0"/>
                <a:ea typeface="+mj-ea"/>
                <a:cs typeface="+mj-cs"/>
              </a:defRPr>
            </a:lvl1pPr>
          </a:lstStyle>
          <a:p>
            <a:endParaRPr lang="en-US" sz="2700" dirty="0"/>
          </a:p>
        </p:txBody>
      </p:sp>
      <p:cxnSp>
        <p:nvCxnSpPr>
          <p:cNvPr id="6" name="Straight Connector 5"/>
          <p:cNvCxnSpPr/>
          <p:nvPr/>
        </p:nvCxnSpPr>
        <p:spPr>
          <a:xfrm>
            <a:off x="601134" y="997155"/>
            <a:ext cx="8009466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1"/>
          <p:cNvSpPr txBox="1">
            <a:spLocks/>
          </p:cNvSpPr>
          <p:nvPr/>
        </p:nvSpPr>
        <p:spPr>
          <a:xfrm>
            <a:off x="2225842" y="166909"/>
            <a:ext cx="6811691" cy="1326753"/>
          </a:xfrm>
          <a:prstGeom prst="rect">
            <a:avLst/>
          </a:prstGeom>
        </p:spPr>
        <p:txBody>
          <a:bodyPr/>
          <a:lstStyle>
            <a:lvl1pPr algn="ctr" defTabSz="685800" rtl="0" eaLnBrk="1" latinLnBrk="0" hangingPunct="1">
              <a:spcBef>
                <a:spcPct val="0"/>
              </a:spcBef>
              <a:buNone/>
              <a:defRPr sz="3600" b="1" kern="1200">
                <a:solidFill>
                  <a:srgbClr val="0066B2"/>
                </a:solidFill>
                <a:latin typeface="Myriad Pro" pitchFamily="34" charset="0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13189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</p:sldLayoutIdLst>
  <p:timing>
    <p:tnLst>
      <p:par>
        <p:cTn id="1" dur="indefinite" restart="never" nodeType="tmRoot"/>
      </p:par>
    </p:tnLst>
  </p:timing>
  <p:txStyles>
    <p:titleStyle>
      <a:lvl1pPr algn="ctr" defTabSz="685800" rtl="0" eaLnBrk="1" latinLnBrk="0" hangingPunct="1">
        <a:spcBef>
          <a:spcPct val="0"/>
        </a:spcBef>
        <a:buNone/>
        <a:defRPr sz="1500" b="1" kern="1200">
          <a:solidFill>
            <a:srgbClr val="0066B2"/>
          </a:solidFill>
          <a:latin typeface="Myriad Pro" pitchFamily="34" charset="0"/>
          <a:ea typeface="+mj-ea"/>
          <a:cs typeface="+mj-cs"/>
        </a:defRPr>
      </a:lvl1pPr>
    </p:titleStyle>
    <p:bodyStyle>
      <a:lvl1pPr marL="257175" indent="-257175" algn="l" defTabSz="6858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defTabSz="685800" rtl="0" eaLnBrk="1" latinLnBrk="0" hangingPunct="1">
        <a:spcBef>
          <a:spcPct val="20000"/>
        </a:spcBef>
        <a:buFont typeface="Arial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spcBef>
          <a:spcPct val="20000"/>
        </a:spcBef>
        <a:buFont typeface="Arial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spcBef>
          <a:spcPct val="20000"/>
        </a:spcBef>
        <a:buFont typeface="Arial" pitchFamily="34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 descr="E:\Kienlh\2018\Thuong-Hieu\Đại hôi cổ đông\logo-en.png"/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428" y="184834"/>
            <a:ext cx="2214339" cy="8292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angle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68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-1295400" y="304800"/>
            <a:ext cx="7781904" cy="69045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313318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3" r:id="rId2"/>
    <p:sldLayoutId id="2147483684" r:id="rId3"/>
    <p:sldLayoutId id="2147483685" r:id="rId4"/>
    <p:sldLayoutId id="2147483686" r:id="rId5"/>
    <p:sldLayoutId id="2147483687" r:id="rId6"/>
    <p:sldLayoutId id="2147483688" r:id="rId7"/>
    <p:sldLayoutId id="2147483689" r:id="rId8"/>
    <p:sldLayoutId id="2147483690" r:id="rId9"/>
    <p:sldLayoutId id="2147483691" r:id="rId10"/>
    <p:sldLayoutId id="2147483692" r:id="rId11"/>
  </p:sldLayoutIdLst>
  <p:timing>
    <p:tnLst>
      <p:par>
        <p:cTn id="1" dur="indefinite" restart="never" nodeType="tmRoot"/>
      </p:par>
    </p:tnLst>
  </p:timing>
  <p:txStyles>
    <p:titleStyle>
      <a:lvl1pPr algn="ctr" defTabSz="6858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defTabSz="6858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4084" y="1601772"/>
            <a:ext cx="6295029" cy="2237873"/>
          </a:xfrm>
        </p:spPr>
        <p:txBody>
          <a:bodyPr>
            <a:normAutofit/>
          </a:bodyPr>
          <a:lstStyle/>
          <a:p>
            <a:pPr algn="ctr"/>
            <a:r>
              <a:rPr lang="en-US"/>
              <a:t>Chapter 31 </a:t>
            </a: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Improving </a:t>
            </a:r>
            <a:r>
              <a:rPr lang="en-US"/>
              <a:t>your requirements processes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34132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Objectives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6600" y="1282700"/>
            <a:ext cx="7899399" cy="4775199"/>
          </a:xfrm>
        </p:spPr>
        <p:txBody>
          <a:bodyPr>
            <a:normAutofit/>
          </a:bodyPr>
          <a:lstStyle/>
          <a:p>
            <a:r>
              <a:rPr lang="en-US" dirty="0" smtClean="0"/>
              <a:t>Student could understand how </a:t>
            </a:r>
            <a:r>
              <a:rPr lang="en-US" dirty="0"/>
              <a:t>requirements relate to various other project processes and  stakeholders. </a:t>
            </a:r>
            <a:endParaRPr lang="en-US" dirty="0" smtClean="0"/>
          </a:p>
          <a:p>
            <a:r>
              <a:rPr lang="en-US" dirty="0" smtClean="0"/>
              <a:t>Student enhance some basic </a:t>
            </a:r>
            <a:r>
              <a:rPr lang="en-US" dirty="0"/>
              <a:t>concepts about software process improvement and a  suggested process improvement cycle. </a:t>
            </a:r>
            <a:endParaRPr lang="en-US" dirty="0" smtClean="0"/>
          </a:p>
          <a:p>
            <a:r>
              <a:rPr lang="en-US" dirty="0" smtClean="0"/>
              <a:t>Student enhance a list </a:t>
            </a:r>
            <a:r>
              <a:rPr lang="en-US" dirty="0"/>
              <a:t>several useful requirements “process assets” that </a:t>
            </a:r>
            <a:r>
              <a:rPr lang="en-US" dirty="0" err="1" smtClean="0"/>
              <a:t>yorganization</a:t>
            </a:r>
            <a:r>
              <a:rPr lang="en-US" dirty="0" smtClean="0"/>
              <a:t> </a:t>
            </a:r>
            <a:r>
              <a:rPr lang="en-US" dirty="0"/>
              <a:t>should have available. </a:t>
            </a:r>
            <a:endParaRPr lang="en-US" dirty="0" smtClean="0"/>
          </a:p>
          <a:p>
            <a:r>
              <a:rPr lang="en-US" dirty="0" smtClean="0"/>
              <a:t>Enhance a </a:t>
            </a:r>
            <a:r>
              <a:rPr lang="en-US" dirty="0"/>
              <a:t>process improvement road map for implementing improved requirements engineering processes.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85082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Contents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16000" y="1346200"/>
            <a:ext cx="7416800" cy="4342358"/>
          </a:xfrm>
        </p:spPr>
        <p:txBody>
          <a:bodyPr/>
          <a:lstStyle/>
          <a:p>
            <a:r>
              <a:rPr lang="en-US"/>
              <a:t>How requirements relate to other project </a:t>
            </a:r>
            <a:r>
              <a:rPr lang="en-US" smtClean="0"/>
              <a:t>processes</a:t>
            </a:r>
          </a:p>
          <a:p>
            <a:r>
              <a:rPr lang="en-US"/>
              <a:t>Requirements and various stakeholder </a:t>
            </a:r>
            <a:r>
              <a:rPr lang="en-US" smtClean="0"/>
              <a:t>groups</a:t>
            </a:r>
          </a:p>
          <a:p>
            <a:r>
              <a:rPr lang="en-US"/>
              <a:t>Gaining commitment to change</a:t>
            </a:r>
            <a:br>
              <a:rPr lang="en-US"/>
            </a:b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71935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How requirements relate to other project processes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2400" y="1367009"/>
            <a:ext cx="5994400" cy="5001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56326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Requirements and various stakeholder groups</a:t>
            </a:r>
            <a:br>
              <a:rPr lang="en-US"/>
            </a:br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1412056"/>
            <a:ext cx="7035800" cy="4673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57981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Gaining commitment to change</a:t>
            </a:r>
            <a:br>
              <a:rPr lang="en-US"/>
            </a:br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089" y="1181100"/>
            <a:ext cx="8091955" cy="3826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53469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Fundamentals of software process improvement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Process improvement should be evolutionary and </a:t>
            </a:r>
            <a:r>
              <a:rPr lang="en-US" dirty="0" smtClean="0"/>
              <a:t>continuous</a:t>
            </a:r>
          </a:p>
          <a:p>
            <a:r>
              <a:rPr lang="en-US" dirty="0" smtClean="0"/>
              <a:t>People </a:t>
            </a:r>
            <a:r>
              <a:rPr lang="en-US" dirty="0"/>
              <a:t>and organizations change only when they have an incentive to do </a:t>
            </a:r>
            <a:r>
              <a:rPr lang="en-US" dirty="0" smtClean="0"/>
              <a:t>so</a:t>
            </a:r>
          </a:p>
          <a:p>
            <a:r>
              <a:rPr lang="en-US" dirty="0"/>
              <a:t>Process changes should be </a:t>
            </a:r>
            <a:r>
              <a:rPr lang="en-US" dirty="0" smtClean="0"/>
              <a:t>goal-oriented</a:t>
            </a:r>
          </a:p>
          <a:p>
            <a:r>
              <a:rPr lang="en-US" dirty="0"/>
              <a:t>Treat your improvement activities as mini-projects.</a:t>
            </a:r>
          </a:p>
        </p:txBody>
      </p:sp>
    </p:spTree>
    <p:extLst>
      <p:ext uri="{BB962C8B-B14F-4D97-AF65-F5344CB8AC3E}">
        <p14:creationId xmlns:p14="http://schemas.microsoft.com/office/powerpoint/2010/main" val="24587096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Root cause analysis</a:t>
            </a:r>
            <a:br>
              <a:rPr lang="en-US"/>
            </a:b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0400" y="1062337"/>
            <a:ext cx="8077200" cy="1198824"/>
          </a:xfrm>
        </p:spPr>
        <p:txBody>
          <a:bodyPr>
            <a:normAutofit/>
          </a:bodyPr>
          <a:lstStyle/>
          <a:p>
            <a:r>
              <a:rPr lang="en-US" dirty="0"/>
              <a:t>Root cause analysis seeks to identify the underlying factors that contribute to an observed problem, distinguishing symptoms from their causes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5842" y="2261161"/>
            <a:ext cx="5521348" cy="4153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85848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The process improvement cycle</a:t>
            </a:r>
            <a:br>
              <a:rPr lang="en-US"/>
            </a:br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801" y="1231900"/>
            <a:ext cx="8216742" cy="4305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04020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Requirements engineering process assets</a:t>
            </a:r>
            <a:br>
              <a:rPr lang="en-US" dirty="0"/>
            </a:b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205" y="1062660"/>
            <a:ext cx="7838111" cy="310040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299" y="4074169"/>
            <a:ext cx="7866081" cy="1653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4083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Requirements engineering process assets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766" y="1574800"/>
            <a:ext cx="8172472" cy="317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02567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Creating a requirements process improvement road map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351" y="1363662"/>
            <a:ext cx="7764687" cy="3119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8474136"/>
      </p:ext>
    </p:extLst>
  </p:cSld>
  <p:clrMapOvr>
    <a:masterClrMapping/>
  </p:clrMapOvr>
</p:sld>
</file>

<file path=ppt/theme/theme1.xml><?xml version="1.0" encoding="utf-8"?>
<a:theme xmlns:a="http://schemas.openxmlformats.org/drawingml/2006/main" name="Theme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alibri">
      <a:maj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2" id="{EB6DEE63-BE41-41AB-9512-0AD4948D9815}" vid="{C06A2116-4534-44AC-A79C-40D866AE0D36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Theme2</Template>
  <TotalTime>20</TotalTime>
  <Words>176</Words>
  <Application>Microsoft Office PowerPoint</Application>
  <PresentationFormat>On-screen Show (4:3)</PresentationFormat>
  <Paragraphs>24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Myriad Pro</vt:lpstr>
      <vt:lpstr>Arial</vt:lpstr>
      <vt:lpstr>Calibri</vt:lpstr>
      <vt:lpstr>Theme2</vt:lpstr>
      <vt:lpstr>Custom Design</vt:lpstr>
      <vt:lpstr>Chapter 31  Improving your requirements processes</vt:lpstr>
      <vt:lpstr>Objectives</vt:lpstr>
      <vt:lpstr>Contents</vt:lpstr>
      <vt:lpstr>How requirements relate to other project processes</vt:lpstr>
      <vt:lpstr>Requirements and various stakeholder groups </vt:lpstr>
      <vt:lpstr>Gaining commitment to change </vt:lpstr>
      <vt:lpstr>Fundamentals of software process improvement</vt:lpstr>
      <vt:lpstr>Root cause analysis </vt:lpstr>
      <vt:lpstr>The process improvement cycle </vt:lpstr>
      <vt:lpstr>Requirements engineering process assets </vt:lpstr>
      <vt:lpstr>Requirements engineering process assets</vt:lpstr>
      <vt:lpstr>Creating a requirements process improvement road map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31  Improving your requirements processes</dc:title>
  <dc:creator>Huong</dc:creator>
  <cp:lastModifiedBy>NhanDT2</cp:lastModifiedBy>
  <cp:revision>7</cp:revision>
  <dcterms:created xsi:type="dcterms:W3CDTF">2018-04-24T07:14:47Z</dcterms:created>
  <dcterms:modified xsi:type="dcterms:W3CDTF">2022-07-13T14:24:58Z</dcterms:modified>
</cp:coreProperties>
</file>