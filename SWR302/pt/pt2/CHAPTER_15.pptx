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940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647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5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9832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844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45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A6D18E34-E94E-4ECB-8A64-64DDCBDA2782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54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A6D18E34-E94E-4ECB-8A64-64DDCBDA2782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2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297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1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74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21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67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06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44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47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9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43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2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25675D6D-3D81-477C-A539-38E081D7AA6C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5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3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7387" y="1867903"/>
            <a:ext cx="4950338" cy="2237873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CHAPTER </a:t>
            </a:r>
            <a:r>
              <a:rPr lang="en-US" smtClean="0"/>
              <a:t>15</a:t>
            </a:r>
            <a:r>
              <a:rPr lang="en-US"/>
              <a:t/>
            </a:r>
            <a:br>
              <a:rPr lang="en-US"/>
            </a:br>
            <a:r>
              <a:rPr lang="en-US"/>
              <a:t>Risk reduction through prototyping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4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900"/>
            <a:ext cx="7683500" cy="3887317"/>
          </a:xfrm>
        </p:spPr>
        <p:txBody>
          <a:bodyPr>
            <a:normAutofit/>
          </a:bodyPr>
          <a:lstStyle/>
          <a:p>
            <a:r>
              <a:rPr lang="en-US"/>
              <a:t>This chapter describes how prototyping provides value to the project and different kinds of  prototypes you might create for different purposes</a:t>
            </a:r>
            <a:r>
              <a:rPr lang="en-US" smtClean="0"/>
              <a:t>.</a:t>
            </a:r>
          </a:p>
          <a:p>
            <a:r>
              <a:rPr lang="en-US" smtClean="0"/>
              <a:t> </a:t>
            </a:r>
            <a:r>
              <a:rPr lang="en-US"/>
              <a:t>It also offers guidance on how to use them during requirements development, as well as ways to make prototyping an effective part of your software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21929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715" y="-292452"/>
            <a:ext cx="5290886" cy="1032060"/>
          </a:xfrm>
        </p:spPr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Contents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0" y="1333500"/>
            <a:ext cx="7315200" cy="444499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Prototyping: What and why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Mock-ups and proofs of concept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Throwaway and evolutionary prototypes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Paper and electronic </a:t>
            </a:r>
            <a:r>
              <a:rPr lang="en-US" smtClean="0"/>
              <a:t>prototypes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Working with </a:t>
            </a:r>
            <a:r>
              <a:rPr lang="en-US" smtClean="0"/>
              <a:t>prototypes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Prototype evaluation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Risks of prototyping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Prototyping success factors</a:t>
            </a:r>
          </a:p>
        </p:txBody>
      </p:sp>
    </p:spTree>
    <p:extLst>
      <p:ext uri="{BB962C8B-B14F-4D97-AF65-F5344CB8AC3E}">
        <p14:creationId xmlns:p14="http://schemas.microsoft.com/office/powerpoint/2010/main" val="255047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Prototyping: What and why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Purpose:</a:t>
            </a:r>
          </a:p>
          <a:p>
            <a:pPr lvl="1"/>
            <a:r>
              <a:rPr lang="en-US" smtClean="0"/>
              <a:t>Clarify</a:t>
            </a:r>
            <a:r>
              <a:rPr lang="en-US"/>
              <a:t>, complete, and validate requirements </a:t>
            </a:r>
            <a:endParaRPr lang="en-US" smtClean="0"/>
          </a:p>
          <a:p>
            <a:pPr lvl="1"/>
            <a:r>
              <a:rPr lang="en-US" smtClean="0"/>
              <a:t> </a:t>
            </a:r>
            <a:r>
              <a:rPr lang="en-US"/>
              <a:t>Explore design alternatives </a:t>
            </a:r>
            <a:endParaRPr lang="en-US" smtClean="0"/>
          </a:p>
          <a:p>
            <a:pPr lvl="1"/>
            <a:r>
              <a:rPr lang="en-US"/>
              <a:t> Create a subset that will grow into the ultimate product </a:t>
            </a:r>
            <a:endParaRPr lang="en-US" smtClean="0"/>
          </a:p>
          <a:p>
            <a:r>
              <a:rPr lang="en-US"/>
              <a:t> </a:t>
            </a:r>
            <a:r>
              <a:rPr lang="en-US" smtClean="0"/>
              <a:t>Three classes of prototype attributes</a:t>
            </a:r>
          </a:p>
          <a:p>
            <a:pPr lvl="1"/>
            <a:r>
              <a:rPr lang="en-US" smtClean="0"/>
              <a:t>Scope</a:t>
            </a:r>
          </a:p>
          <a:p>
            <a:pPr lvl="1"/>
            <a:r>
              <a:rPr lang="en-US" smtClean="0"/>
              <a:t>Future use</a:t>
            </a:r>
          </a:p>
          <a:p>
            <a:pPr lvl="1"/>
            <a:r>
              <a:rPr lang="en-US" smtClean="0"/>
              <a:t>Form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5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Mock-ups and proofs of </a:t>
            </a:r>
            <a:r>
              <a:rPr lang="en-US" smtClean="0"/>
              <a:t>concept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632699" cy="49657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Definition: </a:t>
            </a:r>
            <a:r>
              <a:rPr lang="en-US" dirty="0" smtClean="0"/>
              <a:t>people </a:t>
            </a:r>
            <a:r>
              <a:rPr lang="en-US" dirty="0"/>
              <a:t>say “software prototype,” they are usually thinking about a mock-up of a possible user interface. A mock-up is also called a horizontal </a:t>
            </a:r>
            <a:r>
              <a:rPr lang="en-US" dirty="0" smtClean="0"/>
              <a:t>prototype.</a:t>
            </a:r>
          </a:p>
          <a:p>
            <a:r>
              <a:rPr lang="en-US" dirty="0"/>
              <a:t>A proof of concept, also known as a vertical prototype, implements a slice of application functionality from the user interface through all the technical services layers</a:t>
            </a:r>
          </a:p>
          <a:p>
            <a:r>
              <a:rPr lang="en-US" dirty="0" smtClean="0"/>
              <a:t>Purpose: </a:t>
            </a:r>
          </a:p>
          <a:p>
            <a:pPr lvl="1"/>
            <a:r>
              <a:rPr lang="en-US" dirty="0" smtClean="0"/>
              <a:t>demonstrate </a:t>
            </a:r>
            <a:r>
              <a:rPr lang="en-US" dirty="0"/>
              <a:t>the functional options the user will have available, the look and feel of the user interface (colors, layout, graphics, controls), and the navigation </a:t>
            </a:r>
            <a:r>
              <a:rPr lang="en-US" dirty="0" smtClean="0"/>
              <a:t>structure</a:t>
            </a:r>
          </a:p>
          <a:p>
            <a:pPr lvl="1"/>
            <a:r>
              <a:rPr lang="en-US" dirty="0"/>
              <a:t> explore some specific behaviors of the intended system, with the goal of refining the </a:t>
            </a:r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represent </a:t>
            </a:r>
            <a:r>
              <a:rPr lang="en-US" dirty="0"/>
              <a:t>the developer’s concept of how a specific use case might be  </a:t>
            </a:r>
            <a:r>
              <a:rPr lang="en-US" dirty="0" smtClean="0"/>
              <a:t>implemented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71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Throwaway </a:t>
            </a:r>
            <a:r>
              <a:rPr lang="en-US" dirty="0" smtClean="0"/>
              <a:t>prototypes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270000"/>
            <a:ext cx="7734299" cy="4838699"/>
          </a:xfrm>
        </p:spPr>
        <p:txBody>
          <a:bodyPr>
            <a:normAutofit/>
          </a:bodyPr>
          <a:lstStyle/>
          <a:p>
            <a:r>
              <a:rPr lang="en-US" dirty="0"/>
              <a:t>Purpose:  </a:t>
            </a:r>
            <a:r>
              <a:rPr lang="en-US" dirty="0" smtClean="0"/>
              <a:t>build </a:t>
            </a:r>
            <a:r>
              <a:rPr lang="en-US" dirty="0"/>
              <a:t>a throwaway prototype to answer questions, resolve uncertainties, and improve requirements quality  (Davis </a:t>
            </a:r>
            <a:r>
              <a:rPr lang="en-US" dirty="0" smtClean="0"/>
              <a:t>1993)</a:t>
            </a:r>
          </a:p>
          <a:p>
            <a:r>
              <a:rPr lang="en-US" dirty="0"/>
              <a:t>A wireframe is a particular approach to throwaway prototyping commonly used for custom user interface design and website </a:t>
            </a:r>
            <a:r>
              <a:rPr lang="en-US" dirty="0" smtClean="0"/>
              <a:t>design.</a:t>
            </a:r>
          </a:p>
          <a:p>
            <a:r>
              <a:rPr lang="en-US" dirty="0"/>
              <a:t>You can use wireframes to reach a better understanding of three aspects of a website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The conceptual </a:t>
            </a:r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information architecture or navigation design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high-resolution, detailed design of the pages </a:t>
            </a:r>
          </a:p>
        </p:txBody>
      </p:sp>
    </p:spTree>
    <p:extLst>
      <p:ext uri="{BB962C8B-B14F-4D97-AF65-F5344CB8AC3E}">
        <p14:creationId xmlns:p14="http://schemas.microsoft.com/office/powerpoint/2010/main" val="404053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Evolutionary prototypes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Purpose: provides </a:t>
            </a:r>
            <a:r>
              <a:rPr lang="en-US"/>
              <a:t>a solid architectural foundation for building the product incrementally as the requirements become clear over time  (McConnell 1996). </a:t>
            </a:r>
            <a:endParaRPr lang="en-US" smtClean="0"/>
          </a:p>
          <a:p>
            <a:r>
              <a:rPr lang="en-US" smtClean="0"/>
              <a:t>Agile </a:t>
            </a:r>
            <a:r>
              <a:rPr lang="en-US"/>
              <a:t>development provides an example of evolutionary prototyping. Agile teams construct the product through a series of iterations, using feedback on the early </a:t>
            </a:r>
            <a:r>
              <a:rPr lang="en-US" smtClean="0"/>
              <a:t>iterations </a:t>
            </a:r>
            <a:r>
              <a:rPr lang="en-US"/>
              <a:t>to adjust the direction of future development </a:t>
            </a:r>
            <a:r>
              <a:rPr lang="en-US" smtClean="0"/>
              <a:t>cycles.</a:t>
            </a:r>
          </a:p>
          <a:p>
            <a:r>
              <a:rPr lang="en-US"/>
              <a:t>Evolutionary prototyping is well suited for web development projects</a:t>
            </a:r>
          </a:p>
        </p:txBody>
      </p:sp>
    </p:spTree>
    <p:extLst>
      <p:ext uri="{BB962C8B-B14F-4D97-AF65-F5344CB8AC3E}">
        <p14:creationId xmlns:p14="http://schemas.microsoft.com/office/powerpoint/2010/main" val="343508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Evolutionary prototypes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54" y="1562101"/>
            <a:ext cx="7318808" cy="24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1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1362" y="1008930"/>
            <a:ext cx="5666874" cy="63280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38" y="1008930"/>
            <a:ext cx="5926662" cy="53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3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Paper and electronic prototypes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Paper prototype</a:t>
            </a:r>
          </a:p>
          <a:p>
            <a:pPr lvl="1"/>
            <a:r>
              <a:rPr lang="en-US" smtClean="0"/>
              <a:t>Pros</a:t>
            </a:r>
          </a:p>
          <a:p>
            <a:pPr lvl="1"/>
            <a:r>
              <a:rPr lang="en-US" smtClean="0"/>
              <a:t>Cons</a:t>
            </a:r>
          </a:p>
          <a:p>
            <a:r>
              <a:rPr lang="en-US" smtClean="0"/>
              <a:t>Electronic prototype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0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9042" y="186372"/>
            <a:ext cx="5666874" cy="632807"/>
          </a:xfrm>
        </p:spPr>
        <p:txBody>
          <a:bodyPr>
            <a:normAutofit fontScale="90000"/>
          </a:bodyPr>
          <a:lstStyle/>
          <a:p>
            <a:r>
              <a:rPr lang="en-US"/>
              <a:t>Working with prototypes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29" y="880269"/>
            <a:ext cx="4700588" cy="10644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2" y="4391718"/>
            <a:ext cx="3424865" cy="13215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961" y="1801634"/>
            <a:ext cx="2993231" cy="2093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72" y="1764786"/>
            <a:ext cx="3013939" cy="2423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06" y="4187887"/>
            <a:ext cx="3107531" cy="243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1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Prototype evaluation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700" y="1168400"/>
            <a:ext cx="7683499" cy="45918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smtClean="0"/>
              <a:t>You might ask the following questions:</a:t>
            </a:r>
          </a:p>
          <a:p>
            <a:r>
              <a:rPr lang="en-US" smtClean="0"/>
              <a:t>Does </a:t>
            </a:r>
            <a:r>
              <a:rPr lang="en-US"/>
              <a:t>the prototype implement the functionality in the way you </a:t>
            </a:r>
            <a:r>
              <a:rPr lang="en-US" smtClean="0"/>
              <a:t>expected?</a:t>
            </a:r>
          </a:p>
          <a:p>
            <a:r>
              <a:rPr lang="en-US" smtClean="0"/>
              <a:t>What </a:t>
            </a:r>
            <a:r>
              <a:rPr lang="en-US"/>
              <a:t>functionality is missing from the prototype</a:t>
            </a:r>
            <a:r>
              <a:rPr lang="en-US" smtClean="0"/>
              <a:t>?</a:t>
            </a:r>
          </a:p>
          <a:p>
            <a:r>
              <a:rPr lang="en-US" smtClean="0"/>
              <a:t>Can </a:t>
            </a:r>
            <a:r>
              <a:rPr lang="en-US"/>
              <a:t>you think of any possible error conditions that the prototype doesn’t </a:t>
            </a:r>
            <a:r>
              <a:rPr lang="en-US" smtClean="0"/>
              <a:t>address?</a:t>
            </a:r>
          </a:p>
          <a:p>
            <a:r>
              <a:rPr lang="en-US" smtClean="0"/>
              <a:t>Are </a:t>
            </a:r>
            <a:r>
              <a:rPr lang="en-US"/>
              <a:t>any unnecessary functions </a:t>
            </a:r>
            <a:r>
              <a:rPr lang="en-US" smtClean="0"/>
              <a:t>present?</a:t>
            </a:r>
          </a:p>
          <a:p>
            <a:r>
              <a:rPr lang="en-US" smtClean="0"/>
              <a:t>How </a:t>
            </a:r>
            <a:r>
              <a:rPr lang="en-US"/>
              <a:t>logical and complete does the navigation seem to </a:t>
            </a:r>
            <a:r>
              <a:rPr lang="en-US" smtClean="0"/>
              <a:t>you?</a:t>
            </a:r>
          </a:p>
          <a:p>
            <a:r>
              <a:rPr lang="en-US" smtClean="0"/>
              <a:t>Are </a:t>
            </a:r>
            <a:r>
              <a:rPr lang="en-US"/>
              <a:t>there ways to simplify any of the tasks that require too many interaction </a:t>
            </a:r>
            <a:r>
              <a:rPr lang="en-US" smtClean="0"/>
              <a:t>steps?</a:t>
            </a:r>
          </a:p>
          <a:p>
            <a:r>
              <a:rPr lang="en-US" smtClean="0"/>
              <a:t>Were </a:t>
            </a:r>
            <a:r>
              <a:rPr lang="en-US"/>
              <a:t>you ever unsure of what to do next?</a:t>
            </a:r>
          </a:p>
        </p:txBody>
      </p:sp>
    </p:spTree>
    <p:extLst>
      <p:ext uri="{BB962C8B-B14F-4D97-AF65-F5344CB8AC3E}">
        <p14:creationId xmlns:p14="http://schemas.microsoft.com/office/powerpoint/2010/main" val="227761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Risks of prototyping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Pressure to release the prototype </a:t>
            </a:r>
            <a:endParaRPr lang="en-US" dirty="0" smtClean="0"/>
          </a:p>
          <a:p>
            <a:r>
              <a:rPr lang="en-US" dirty="0"/>
              <a:t>Distraction by </a:t>
            </a:r>
            <a:r>
              <a:rPr lang="en-US" dirty="0" smtClean="0"/>
              <a:t>details</a:t>
            </a:r>
          </a:p>
          <a:p>
            <a:r>
              <a:rPr lang="en-US" dirty="0"/>
              <a:t>Unrealistic performance expectations </a:t>
            </a:r>
            <a:endParaRPr lang="en-US" dirty="0" smtClean="0"/>
          </a:p>
          <a:p>
            <a:r>
              <a:rPr lang="en-US" dirty="0"/>
              <a:t>Investing excessive effort in </a:t>
            </a:r>
            <a:r>
              <a:rPr lang="en-US" dirty="0" smtClean="0"/>
              <a:t>prototypes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4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Prototyping success factors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219200"/>
            <a:ext cx="78232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Include </a:t>
            </a:r>
            <a:r>
              <a:rPr lang="en-US"/>
              <a:t>prototyping tasks in your project plan. </a:t>
            </a:r>
            <a:endParaRPr lang="en-US" smtClean="0"/>
          </a:p>
          <a:p>
            <a:r>
              <a:rPr lang="en-US" dirty="0" smtClean="0"/>
              <a:t>State </a:t>
            </a:r>
            <a:r>
              <a:rPr lang="en-US" dirty="0"/>
              <a:t>the purpose of each prototype before you build it, and explain what will happen with the outcome: either discard (or archive) the prototype, retaining the knowledge it provided, or build upon it to grow it into the ultimate solution. </a:t>
            </a:r>
            <a:endParaRPr lang="en-US" dirty="0" smtClean="0"/>
          </a:p>
          <a:p>
            <a:r>
              <a:rPr lang="en-US" dirty="0" smtClean="0"/>
              <a:t>Plan </a:t>
            </a:r>
            <a:r>
              <a:rPr lang="en-US" dirty="0"/>
              <a:t>to develop multiple prototypes. </a:t>
            </a:r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/>
              <a:t>throwaway prototypes as quickly and cheaply as possible. </a:t>
            </a:r>
            <a:endParaRPr lang="en-US" dirty="0" smtClean="0"/>
          </a:p>
          <a:p>
            <a:r>
              <a:rPr lang="en-US" dirty="0" smtClean="0"/>
              <a:t>Don’t </a:t>
            </a:r>
            <a:r>
              <a:rPr lang="en-US" dirty="0"/>
              <a:t>include input data validations, defensive coding techniques, error-handling code, or extensive code documentation in a throwaway prototype. </a:t>
            </a:r>
            <a:endParaRPr lang="en-US" dirty="0" smtClean="0"/>
          </a:p>
          <a:p>
            <a:r>
              <a:rPr lang="en-US" dirty="0" smtClean="0"/>
              <a:t>Don’t </a:t>
            </a:r>
            <a:r>
              <a:rPr lang="en-US" dirty="0"/>
              <a:t>prototype requirements that you already understand, except to explore design  alternatives. 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/>
              <a:t>plausible data in prototype screen displays and reports. </a:t>
            </a:r>
            <a:endParaRPr lang="en-US" dirty="0" smtClean="0"/>
          </a:p>
          <a:p>
            <a:r>
              <a:rPr lang="en-US" dirty="0" smtClean="0"/>
              <a:t>Don’t </a:t>
            </a:r>
            <a:r>
              <a:rPr lang="en-US" dirty="0"/>
              <a:t>expect a prototype to replace written requirement</a:t>
            </a:r>
          </a:p>
        </p:txBody>
      </p:sp>
    </p:spTree>
    <p:extLst>
      <p:ext uri="{BB962C8B-B14F-4D97-AF65-F5344CB8AC3E}">
        <p14:creationId xmlns:p14="http://schemas.microsoft.com/office/powerpoint/2010/main" val="244993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724</TotalTime>
  <Words>642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Myriad Pro</vt:lpstr>
      <vt:lpstr>Arial</vt:lpstr>
      <vt:lpstr>Calibri</vt:lpstr>
      <vt:lpstr>Theme2</vt:lpstr>
      <vt:lpstr>Custom Design</vt:lpstr>
      <vt:lpstr>CHAPTER 15 Risk reduction through prototyping</vt:lpstr>
      <vt:lpstr>Objectives</vt:lpstr>
      <vt:lpstr> Contents </vt:lpstr>
      <vt:lpstr>Prototyping: What and why </vt:lpstr>
      <vt:lpstr>Mock-ups and proofs of concept</vt:lpstr>
      <vt:lpstr>Throwaway prototypes</vt:lpstr>
      <vt:lpstr>Evolutionary prototypes</vt:lpstr>
      <vt:lpstr>Evolutionary prototypes</vt:lpstr>
      <vt:lpstr>PowerPoint Presentation</vt:lpstr>
      <vt:lpstr>Paper and electronic prototypes </vt:lpstr>
      <vt:lpstr>Working with prototypes </vt:lpstr>
      <vt:lpstr>Prototype evaluation </vt:lpstr>
      <vt:lpstr>Risks of prototyping </vt:lpstr>
      <vt:lpstr>Prototyping success factors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Huong</dc:creator>
  <cp:lastModifiedBy>NhanDT2</cp:lastModifiedBy>
  <cp:revision>13</cp:revision>
  <dcterms:created xsi:type="dcterms:W3CDTF">2018-04-24T06:56:47Z</dcterms:created>
  <dcterms:modified xsi:type="dcterms:W3CDTF">2022-06-07T02:09:59Z</dcterms:modified>
</cp:coreProperties>
</file>