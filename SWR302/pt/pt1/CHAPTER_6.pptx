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1" r:id="rId2"/>
  </p:sldMasterIdLst>
  <p:notesMasterIdLst>
    <p:notesMasterId r:id="rId16"/>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14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2894BB-A9ED-48FA-8155-1834962EC834}" type="datetimeFigureOut">
              <a:rPr lang="en-US" smtClean="0"/>
              <a:t>6/24/2025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880D1C-340E-4E30-ADB9-C56B4171E983}" type="slidenum">
              <a:rPr lang="en-US" smtClean="0"/>
              <a:t>‹#›</a:t>
            </a:fld>
            <a:endParaRPr lang="en-US"/>
          </a:p>
        </p:txBody>
      </p:sp>
    </p:spTree>
    <p:extLst>
      <p:ext uri="{BB962C8B-B14F-4D97-AF65-F5344CB8AC3E}">
        <p14:creationId xmlns:p14="http://schemas.microsoft.com/office/powerpoint/2010/main" val="2118080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6D8E87D-860B-4D07-AA9C-845386AB8A4E}" type="slidenum">
              <a:rPr lang="en-US" smtClean="0"/>
              <a:t>6</a:t>
            </a:fld>
            <a:endParaRPr lang="en-US"/>
          </a:p>
        </p:txBody>
      </p:sp>
    </p:spTree>
    <p:extLst>
      <p:ext uri="{BB962C8B-B14F-4D97-AF65-F5344CB8AC3E}">
        <p14:creationId xmlns:p14="http://schemas.microsoft.com/office/powerpoint/2010/main" val="3958640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smtClean="0"/>
              <a:t>Each of our projects included a few key members of  our user community to provide the requirements. We called these people product champions </a:t>
            </a:r>
            <a:endParaRPr lang="en-US"/>
          </a:p>
        </p:txBody>
      </p:sp>
      <p:sp>
        <p:nvSpPr>
          <p:cNvPr id="4" name="Slide Number Placeholder 3"/>
          <p:cNvSpPr>
            <a:spLocks noGrp="1"/>
          </p:cNvSpPr>
          <p:nvPr>
            <p:ph type="sldNum" sz="quarter" idx="10"/>
          </p:nvPr>
        </p:nvSpPr>
        <p:spPr/>
        <p:txBody>
          <a:bodyPr/>
          <a:lstStyle/>
          <a:p>
            <a:fld id="{D6D8E87D-860B-4D07-AA9C-845386AB8A4E}" type="slidenum">
              <a:rPr lang="en-US" smtClean="0"/>
              <a:t>10</a:t>
            </a:fld>
            <a:endParaRPr lang="en-US"/>
          </a:p>
        </p:txBody>
      </p:sp>
    </p:spTree>
    <p:extLst>
      <p:ext uri="{BB962C8B-B14F-4D97-AF65-F5344CB8AC3E}">
        <p14:creationId xmlns:p14="http://schemas.microsoft.com/office/powerpoint/2010/main" val="34249513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5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chemeClr val="bg1"/>
                </a:solidFill>
              </a:defRPr>
            </a:lvl1pPr>
          </a:lstStyle>
          <a:p>
            <a:fld id="{B494B9F2-D38E-423F-B02E-76B8EA122AC6}" type="slidenum">
              <a:rPr lang="en-US" smtClean="0"/>
              <a:t>‹#›</a:t>
            </a:fld>
            <a:endParaRPr lang="en-US"/>
          </a:p>
        </p:txBody>
      </p:sp>
      <p:sp>
        <p:nvSpPr>
          <p:cNvPr id="3" name="Rectangle 2"/>
          <p:cNvSpPr/>
          <p:nvPr/>
        </p:nvSpPr>
        <p:spPr>
          <a:xfrm>
            <a:off x="435430" y="415492"/>
            <a:ext cx="174171" cy="194108"/>
          </a:xfrm>
          <a:prstGeom prst="rect">
            <a:avLst/>
          </a:pr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 name="Title 1"/>
          <p:cNvSpPr>
            <a:spLocks noGrp="1"/>
          </p:cNvSpPr>
          <p:nvPr>
            <p:ph type="title" hasCustomPrompt="1"/>
          </p:nvPr>
        </p:nvSpPr>
        <p:spPr>
          <a:xfrm>
            <a:off x="685800" y="228600"/>
            <a:ext cx="5638800" cy="457200"/>
          </a:xfrm>
          <a:prstGeom prst="rect">
            <a:avLst/>
          </a:prstGeom>
        </p:spPr>
        <p:txBody>
          <a:bodyPr/>
          <a:lstStyle>
            <a:lvl1pPr algn="l">
              <a:defRPr sz="1800">
                <a:solidFill>
                  <a:srgbClr val="F47206"/>
                </a:solidFill>
                <a:latin typeface="Myriad Pro" pitchFamily="34" charset="0"/>
              </a:defRPr>
            </a:lvl1pPr>
          </a:lstStyle>
          <a:p>
            <a:r>
              <a:rPr lang="en-US" dirty="0" smtClean="0"/>
              <a:t>CLICK TO EDIT MASTER TITLE STYLE</a:t>
            </a:r>
            <a:endParaRPr lang="en-US" dirty="0"/>
          </a:p>
        </p:txBody>
      </p:sp>
      <p:sp>
        <p:nvSpPr>
          <p:cNvPr id="5" name="Rectangle 4"/>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7" name="Straight Connector 6"/>
          <p:cNvCxnSpPr/>
          <p:nvPr/>
        </p:nvCxnSpPr>
        <p:spPr>
          <a:xfrm>
            <a:off x="601134" y="997155"/>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2" descr="E:\Kienlh\2018\Thuong-Hieu\Đại hôi cổ đông\logo-e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828" y="194689"/>
            <a:ext cx="2142909" cy="80246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625612"/>
            <a:ext cx="9144000" cy="232388"/>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p:cNvSpPr txBox="1">
            <a:spLocks/>
          </p:cNvSpPr>
          <p:nvPr/>
        </p:nvSpPr>
        <p:spPr>
          <a:xfrm>
            <a:off x="2225842" y="0"/>
            <a:ext cx="6811691" cy="997155"/>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r>
              <a:rPr lang="en-US" sz="3200" smtClean="0"/>
              <a:t>Click to edit Master title style</a:t>
            </a:r>
            <a:endParaRPr lang="en-US" sz="3200" dirty="0"/>
          </a:p>
        </p:txBody>
      </p:sp>
      <p:sp>
        <p:nvSpPr>
          <p:cNvPr id="13" name="Content Placeholder 2"/>
          <p:cNvSpPr>
            <a:spLocks noGrp="1"/>
          </p:cNvSpPr>
          <p:nvPr>
            <p:ph idx="1"/>
          </p:nvPr>
        </p:nvSpPr>
        <p:spPr>
          <a:xfrm>
            <a:off x="830180" y="1191126"/>
            <a:ext cx="7772399" cy="487279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2368262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B494B9F2-D38E-423F-B02E-76B8EA122AC6}"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6" name="Straight Connector 5"/>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p:cNvSpPr>
            <a:spLocks noGrp="1"/>
          </p:cNvSpPr>
          <p:nvPr>
            <p:ph type="title"/>
          </p:nvPr>
        </p:nvSpPr>
        <p:spPr>
          <a:xfrm>
            <a:off x="2225842" y="1"/>
            <a:ext cx="6811691" cy="914400"/>
          </a:xfrm>
          <a:prstGeom prst="rect">
            <a:avLst/>
          </a:prstGeom>
        </p:spPr>
        <p:txBody>
          <a:bodyPr/>
          <a:lstStyle>
            <a:lvl1pPr>
              <a:defRPr sz="3600"/>
            </a:lvl1pPr>
          </a:lstStyle>
          <a:p>
            <a:r>
              <a:rPr lang="en-US" smtClean="0"/>
              <a:t>Click to edit Master title style</a:t>
            </a:r>
            <a:endParaRPr lang="en-US" dirty="0"/>
          </a:p>
        </p:txBody>
      </p:sp>
      <p:sp>
        <p:nvSpPr>
          <p:cNvPr id="10" name="Content Placeholder 2"/>
          <p:cNvSpPr>
            <a:spLocks noGrp="1"/>
          </p:cNvSpPr>
          <p:nvPr>
            <p:ph idx="1"/>
          </p:nvPr>
        </p:nvSpPr>
        <p:spPr>
          <a:xfrm>
            <a:off x="830180" y="1191126"/>
            <a:ext cx="7772399" cy="5149516"/>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485791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B494B9F2-D38E-423F-B02E-76B8EA122AC6}"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8" name="Straight Connector 7"/>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title"/>
          </p:nvPr>
        </p:nvSpPr>
        <p:spPr>
          <a:xfrm>
            <a:off x="2225842" y="0"/>
            <a:ext cx="6811691" cy="914400"/>
          </a:xfrm>
          <a:prstGeom prst="rect">
            <a:avLst/>
          </a:prstGeom>
        </p:spPr>
        <p:txBody>
          <a:bodyPr/>
          <a:lstStyle>
            <a:lvl1pPr>
              <a:defRPr sz="3600"/>
            </a:lvl1pPr>
          </a:lstStyle>
          <a:p>
            <a:r>
              <a:rPr lang="en-US" smtClean="0"/>
              <a:t>Click to edit Master title style</a:t>
            </a:r>
            <a:endParaRPr lang="en-US" dirty="0"/>
          </a:p>
        </p:txBody>
      </p:sp>
      <p:sp>
        <p:nvSpPr>
          <p:cNvPr id="12" name="Content Placeholder 2"/>
          <p:cNvSpPr>
            <a:spLocks noGrp="1"/>
          </p:cNvSpPr>
          <p:nvPr>
            <p:ph idx="1"/>
          </p:nvPr>
        </p:nvSpPr>
        <p:spPr>
          <a:xfrm>
            <a:off x="830180" y="1191125"/>
            <a:ext cx="7772399" cy="512545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2946010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B494B9F2-D38E-423F-B02E-76B8EA122AC6}"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8" name="Straight Connector 7"/>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title"/>
          </p:nvPr>
        </p:nvSpPr>
        <p:spPr>
          <a:xfrm>
            <a:off x="2233863" y="0"/>
            <a:ext cx="6811691" cy="914401"/>
          </a:xfrm>
          <a:prstGeom prst="rect">
            <a:avLst/>
          </a:prstGeom>
        </p:spPr>
        <p:txBody>
          <a:bodyPr/>
          <a:lstStyle>
            <a:lvl1pPr>
              <a:defRPr sz="3600"/>
            </a:lvl1pPr>
          </a:lstStyle>
          <a:p>
            <a:r>
              <a:rPr lang="en-US" smtClean="0"/>
              <a:t>Click to edit Master title style</a:t>
            </a:r>
            <a:endParaRPr lang="en-US" dirty="0"/>
          </a:p>
        </p:txBody>
      </p:sp>
      <p:sp>
        <p:nvSpPr>
          <p:cNvPr id="12" name="Content Placeholder 2"/>
          <p:cNvSpPr>
            <a:spLocks noGrp="1"/>
          </p:cNvSpPr>
          <p:nvPr>
            <p:ph idx="1"/>
          </p:nvPr>
        </p:nvSpPr>
        <p:spPr>
          <a:xfrm>
            <a:off x="838201" y="1230714"/>
            <a:ext cx="7772399" cy="4957011"/>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76867978"/>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B494B9F2-D38E-423F-B02E-76B8EA122AC6}"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8" name="Straight Connector 7"/>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title"/>
          </p:nvPr>
        </p:nvSpPr>
        <p:spPr>
          <a:xfrm>
            <a:off x="2109854" y="0"/>
            <a:ext cx="6927680" cy="914400"/>
          </a:xfrm>
          <a:prstGeom prst="rect">
            <a:avLst/>
          </a:prstGeom>
        </p:spPr>
        <p:txBody>
          <a:bodyPr/>
          <a:lstStyle>
            <a:lvl1pPr>
              <a:defRPr sz="3600"/>
            </a:lvl1pPr>
          </a:lstStyle>
          <a:p>
            <a:r>
              <a:rPr lang="en-US" smtClean="0"/>
              <a:t>Click to edit Master title style</a:t>
            </a:r>
            <a:endParaRPr lang="en-US" dirty="0"/>
          </a:p>
        </p:txBody>
      </p:sp>
      <p:sp>
        <p:nvSpPr>
          <p:cNvPr id="12" name="Content Placeholder 2"/>
          <p:cNvSpPr>
            <a:spLocks noGrp="1"/>
          </p:cNvSpPr>
          <p:nvPr>
            <p:ph idx="1"/>
          </p:nvPr>
        </p:nvSpPr>
        <p:spPr>
          <a:xfrm>
            <a:off x="697832" y="1191125"/>
            <a:ext cx="7904747" cy="512545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5928229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494B9F2-D38E-423F-B02E-76B8EA122AC6}" type="slidenum">
              <a:rPr lang="en-US" smtClean="0"/>
              <a:t>‹#›</a:t>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7" name="Straight Connector 6"/>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625612"/>
            <a:ext cx="9144000" cy="232388"/>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p:cNvSpPr>
            <a:spLocks noGrp="1"/>
          </p:cNvSpPr>
          <p:nvPr>
            <p:ph type="title"/>
          </p:nvPr>
        </p:nvSpPr>
        <p:spPr>
          <a:xfrm>
            <a:off x="2225842" y="0"/>
            <a:ext cx="6811691" cy="914400"/>
          </a:xfrm>
          <a:prstGeom prst="rect">
            <a:avLst/>
          </a:prstGeom>
        </p:spPr>
        <p:txBody>
          <a:bodyPr/>
          <a:lstStyle>
            <a:lvl1pPr>
              <a:defRPr sz="3600"/>
            </a:lvl1pPr>
          </a:lstStyle>
          <a:p>
            <a:r>
              <a:rPr lang="en-US" smtClean="0"/>
              <a:t>Click to edit Master title style</a:t>
            </a:r>
            <a:endParaRPr lang="en-US" dirty="0"/>
          </a:p>
        </p:txBody>
      </p:sp>
      <p:sp>
        <p:nvSpPr>
          <p:cNvPr id="11" name="Content Placeholder 2"/>
          <p:cNvSpPr>
            <a:spLocks noGrp="1"/>
          </p:cNvSpPr>
          <p:nvPr>
            <p:ph idx="1"/>
          </p:nvPr>
        </p:nvSpPr>
        <p:spPr>
          <a:xfrm>
            <a:off x="830180" y="1191126"/>
            <a:ext cx="7772399" cy="470434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6999290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1910" y="2514601"/>
            <a:ext cx="6686549" cy="2262781"/>
          </a:xfrm>
          <a:prstGeom prst="rect">
            <a:avLst/>
          </a:prstGeom>
        </p:spPr>
        <p:txBody>
          <a:bodyPr anchor="b">
            <a:normAutofit/>
          </a:bodyPr>
          <a:lstStyle>
            <a:lvl1pPr>
              <a:defRPr sz="4050"/>
            </a:lvl1pPr>
          </a:lstStyle>
          <a:p>
            <a:r>
              <a:rPr lang="en-US" smtClean="0"/>
              <a:t>Click to edit Master title style</a:t>
            </a:r>
            <a:endParaRPr lang="en-US" dirty="0"/>
          </a:p>
        </p:txBody>
      </p:sp>
      <p:sp>
        <p:nvSpPr>
          <p:cNvPr id="3" name="Subtitle 2"/>
          <p:cNvSpPr>
            <a:spLocks noGrp="1"/>
          </p:cNvSpPr>
          <p:nvPr>
            <p:ph type="subTitle" idx="1"/>
          </p:nvPr>
        </p:nvSpPr>
        <p:spPr>
          <a:xfrm>
            <a:off x="1941910" y="4777380"/>
            <a:ext cx="6686549" cy="1126283"/>
          </a:xfrm>
          <a:prstGeom prst="rect">
            <a:avLst/>
          </a:prstGeom>
        </p:spPr>
        <p:txBody>
          <a:bodyPr anchor="t"/>
          <a:lstStyle>
            <a:lvl1pPr marL="0" indent="0" algn="l">
              <a:buNone/>
              <a:defRPr>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771210" y="6130437"/>
            <a:ext cx="859712" cy="370396"/>
          </a:xfrm>
          <a:prstGeom prst="rect">
            <a:avLst/>
          </a:prstGeom>
        </p:spPr>
        <p:txBody>
          <a:bodyPr/>
          <a:lstStyle/>
          <a:p>
            <a:fld id="{AFEF2ADC-83A2-49A5-B7FB-A9F39BA1B60F}" type="datetimeFigureOut">
              <a:rPr lang="en-US" smtClean="0"/>
              <a:t>6/24/2025</a:t>
            </a:fld>
            <a:endParaRPr lang="en-US"/>
          </a:p>
        </p:txBody>
      </p:sp>
      <p:sp>
        <p:nvSpPr>
          <p:cNvPr id="5" name="Footer Placeholder 4"/>
          <p:cNvSpPr>
            <a:spLocks noGrp="1"/>
          </p:cNvSpPr>
          <p:nvPr>
            <p:ph type="ftr" sz="quarter" idx="11"/>
          </p:nvPr>
        </p:nvSpPr>
        <p:spPr>
          <a:xfrm>
            <a:off x="1941910" y="6135809"/>
            <a:ext cx="5714999"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398860" y="4529541"/>
            <a:ext cx="584825" cy="365125"/>
          </a:xfrm>
        </p:spPr>
        <p:txBody>
          <a:bodyPr/>
          <a:lstStyle/>
          <a:p>
            <a:fld id="{B494B9F2-D38E-423F-B02E-76B8EA122AC6}" type="slidenum">
              <a:rPr lang="en-US" smtClean="0"/>
              <a:t>‹#›</a:t>
            </a:fld>
            <a:endParaRPr lang="en-US"/>
          </a:p>
        </p:txBody>
      </p:sp>
    </p:spTree>
    <p:extLst>
      <p:ext uri="{BB962C8B-B14F-4D97-AF65-F5344CB8AC3E}">
        <p14:creationId xmlns:p14="http://schemas.microsoft.com/office/powerpoint/2010/main" val="2638247466"/>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25842" y="10499"/>
            <a:ext cx="6811691" cy="1052161"/>
          </a:xfrm>
          <a:prstGeom prst="rect">
            <a:avLst/>
          </a:prstGeom>
        </p:spPr>
        <p:txBody>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a:xfrm>
            <a:off x="830180" y="1191126"/>
            <a:ext cx="7772399" cy="470434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255042" y="6130437"/>
            <a:ext cx="1347537" cy="370396"/>
          </a:xfrm>
          <a:prstGeom prst="rect">
            <a:avLst/>
          </a:prstGeom>
        </p:spPr>
        <p:txBody>
          <a:bodyPr/>
          <a:lstStyle/>
          <a:p>
            <a:fld id="{AFEF2ADC-83A2-49A5-B7FB-A9F39BA1B60F}" type="datetimeFigureOut">
              <a:rPr lang="en-US" smtClean="0"/>
              <a:t>6/24/2025</a:t>
            </a:fld>
            <a:endParaRPr lang="en-US"/>
          </a:p>
        </p:txBody>
      </p:sp>
      <p:sp>
        <p:nvSpPr>
          <p:cNvPr id="5" name="Footer Placeholder 4"/>
          <p:cNvSpPr>
            <a:spLocks noGrp="1"/>
          </p:cNvSpPr>
          <p:nvPr>
            <p:ph type="ftr" sz="quarter" idx="11"/>
          </p:nvPr>
        </p:nvSpPr>
        <p:spPr>
          <a:xfrm>
            <a:off x="830180" y="6135809"/>
            <a:ext cx="682673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B494B9F2-D38E-423F-B02E-76B8EA122AC6}" type="slidenum">
              <a:rPr lang="en-US" smtClean="0"/>
              <a:t>‹#›</a:t>
            </a:fld>
            <a:endParaRPr lang="en-US"/>
          </a:p>
        </p:txBody>
      </p:sp>
    </p:spTree>
    <p:extLst>
      <p:ext uri="{BB962C8B-B14F-4D97-AF65-F5344CB8AC3E}">
        <p14:creationId xmlns:p14="http://schemas.microsoft.com/office/powerpoint/2010/main" val="247162582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198638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2"/>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6/24/2025</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3506570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a:prstGeom prst="rect">
            <a:avLst/>
          </a:prstGeo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6/24/2025</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34531420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2"/>
            <a:ext cx="4038600" cy="4525963"/>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2"/>
            <a:ext cx="4038600" cy="4525963"/>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6/24/2025</a:t>
            </a:fld>
            <a:endParaRPr lang="en-US"/>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1147985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535113"/>
            <a:ext cx="4041775" cy="63976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6/24/2025</a:t>
            </a:fld>
            <a:endParaRPr lang="en-US"/>
          </a:p>
        </p:txBody>
      </p:sp>
      <p:sp>
        <p:nvSpPr>
          <p:cNvPr id="8" name="Footer Placeholder 7"/>
          <p:cNvSpPr>
            <a:spLocks noGrp="1"/>
          </p:cNvSpPr>
          <p:nvPr>
            <p:ph type="ftr" sz="quarter" idx="11"/>
          </p:nvPr>
        </p:nvSpPr>
        <p:spPr>
          <a:xfrm>
            <a:off x="3124200" y="6356352"/>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631187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6/24/2025</a:t>
            </a:fld>
            <a:endParaRPr lang="en-US"/>
          </a:p>
        </p:txBody>
      </p:sp>
      <p:sp>
        <p:nvSpPr>
          <p:cNvPr id="4" name="Footer Placeholder 3"/>
          <p:cNvSpPr>
            <a:spLocks noGrp="1"/>
          </p:cNvSpPr>
          <p:nvPr>
            <p:ph type="ftr" sz="quarter" idx="11"/>
          </p:nvPr>
        </p:nvSpPr>
        <p:spPr>
          <a:xfrm>
            <a:off x="3124200" y="6356352"/>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14436566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6/24/2025</a:t>
            </a:fld>
            <a:endParaRPr lang="en-US"/>
          </a:p>
        </p:txBody>
      </p:sp>
      <p:sp>
        <p:nvSpPr>
          <p:cNvPr id="3" name="Footer Placeholder 2"/>
          <p:cNvSpPr>
            <a:spLocks noGrp="1"/>
          </p:cNvSpPr>
          <p:nvPr>
            <p:ph type="ftr" sz="quarter" idx="11"/>
          </p:nvPr>
        </p:nvSpPr>
        <p:spPr>
          <a:xfrm>
            <a:off x="3124200" y="6356352"/>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6621011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a:prstGeom prst="rect">
            <a:avLst/>
          </a:prstGeo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2"/>
            <a:ext cx="3008313" cy="469106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6/24/2025</a:t>
            </a:fld>
            <a:endParaRPr lang="en-US"/>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19961435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6/24/2025</a:t>
            </a:fld>
            <a:endParaRPr lang="en-US"/>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25593991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2"/>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6/24/2025</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15289758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0"/>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6/24/2025</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735289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image" Target="../media/image2.pn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8" name="Picture 4" descr="D:\2014\FCC\Slide FPT for Global\Line ngang.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0" y="6625612"/>
            <a:ext cx="9144000" cy="232388"/>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4"/>
          <p:cNvSpPr>
            <a:spLocks noGrp="1"/>
          </p:cNvSpPr>
          <p:nvPr>
            <p:ph type="sldNum" sz="quarter" idx="4"/>
          </p:nvPr>
        </p:nvSpPr>
        <p:spPr>
          <a:xfrm>
            <a:off x="304800" y="6629400"/>
            <a:ext cx="762000" cy="228600"/>
          </a:xfrm>
          <a:prstGeom prst="rect">
            <a:avLst/>
          </a:prstGeom>
        </p:spPr>
        <p:txBody>
          <a:bodyPr/>
          <a:lstStyle>
            <a:lvl1pPr algn="l">
              <a:defRPr sz="825">
                <a:solidFill>
                  <a:schemeClr val="bg1"/>
                </a:solidFill>
              </a:defRPr>
            </a:lvl1pPr>
          </a:lstStyle>
          <a:p>
            <a:fld id="{B494B9F2-D38E-423F-B02E-76B8EA122AC6}" type="slidenum">
              <a:rPr lang="en-US" smtClean="0"/>
              <a:t>‹#›</a:t>
            </a:fld>
            <a:endParaRPr lang="en-US"/>
          </a:p>
        </p:txBody>
      </p:sp>
      <p:pic>
        <p:nvPicPr>
          <p:cNvPr id="5" name="Picture 2" descr="E:\Kienlh\2018\Thuong-Hieu\Đại hôi cổ đông\logo-en.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41529" y="42289"/>
            <a:ext cx="2258580" cy="845782"/>
          </a:xfrm>
          <a:prstGeom prst="rect">
            <a:avLst/>
          </a:prstGeom>
          <a:noFill/>
          <a:extLst>
            <a:ext uri="{909E8E84-426E-40DD-AFC4-6F175D3DCCD1}">
              <a14:hiddenFill xmlns:a14="http://schemas.microsoft.com/office/drawing/2010/main">
                <a:solidFill>
                  <a:srgbClr val="FFFFFF"/>
                </a:solidFill>
              </a14:hiddenFill>
            </a:ext>
          </a:extLst>
        </p:spPr>
      </p:pic>
      <p:sp>
        <p:nvSpPr>
          <p:cNvPr id="16" name="Title 1"/>
          <p:cNvSpPr txBox="1">
            <a:spLocks/>
          </p:cNvSpPr>
          <p:nvPr/>
        </p:nvSpPr>
        <p:spPr>
          <a:xfrm>
            <a:off x="2438400" y="301627"/>
            <a:ext cx="6705600" cy="688975"/>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2000" b="1" kern="1200">
                <a:solidFill>
                  <a:srgbClr val="0066B2"/>
                </a:solidFill>
                <a:latin typeface="Myriad Pro" pitchFamily="34" charset="0"/>
                <a:ea typeface="+mj-ea"/>
                <a:cs typeface="+mj-cs"/>
              </a:defRPr>
            </a:lvl1pPr>
          </a:lstStyle>
          <a:p>
            <a:endParaRPr lang="en-US" sz="2700" dirty="0"/>
          </a:p>
        </p:txBody>
      </p:sp>
      <p:cxnSp>
        <p:nvCxnSpPr>
          <p:cNvPr id="6" name="Straight Connector 5"/>
          <p:cNvCxnSpPr/>
          <p:nvPr/>
        </p:nvCxnSpPr>
        <p:spPr>
          <a:xfrm>
            <a:off x="601134" y="997155"/>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Title 1"/>
          <p:cNvSpPr txBox="1">
            <a:spLocks/>
          </p:cNvSpPr>
          <p:nvPr/>
        </p:nvSpPr>
        <p:spPr>
          <a:xfrm>
            <a:off x="2225842" y="166909"/>
            <a:ext cx="6811691" cy="1326753"/>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endParaRPr lang="en-US" dirty="0"/>
          </a:p>
        </p:txBody>
      </p:sp>
    </p:spTree>
    <p:extLst>
      <p:ext uri="{BB962C8B-B14F-4D97-AF65-F5344CB8AC3E}">
        <p14:creationId xmlns:p14="http://schemas.microsoft.com/office/powerpoint/2010/main" val="20828455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Lst>
  <p:timing>
    <p:tnLst>
      <p:par>
        <p:cTn id="1" dur="indefinite" restart="never" nodeType="tmRoot"/>
      </p:par>
    </p:tnLst>
  </p:timing>
  <p:txStyles>
    <p:titleStyle>
      <a:lvl1pPr algn="ctr" defTabSz="685800" rtl="0" eaLnBrk="1" latinLnBrk="0" hangingPunct="1">
        <a:spcBef>
          <a:spcPct val="0"/>
        </a:spcBef>
        <a:buNone/>
        <a:defRPr sz="1500" b="1" kern="1200">
          <a:solidFill>
            <a:srgbClr val="0066B2"/>
          </a:solidFill>
          <a:latin typeface="Myriad Pro" pitchFamily="34" charset="0"/>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2" descr="E:\Kienlh\2018\Thuong-Hieu\Đại hôi cổ đông\logo-en.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76428" y="184834"/>
            <a:ext cx="2214339" cy="829215"/>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0" y="0"/>
            <a:ext cx="9144000" cy="6858000"/>
          </a:xfrm>
          <a:prstGeom prst="rect">
            <a:avLst/>
          </a:prstGeom>
          <a:solidFill>
            <a:srgbClr val="F68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2"/>
          <p:cNvPicPr>
            <a:picLocks noChangeAspect="1" noChangeArrowheads="1"/>
          </p:cNvPicPr>
          <p:nvPr/>
        </p:nvPicPr>
        <p:blipFill>
          <a:blip r:embed="rId14">
            <a:extLst>
              <a:ext uri="{28A0092B-C50C-407E-A947-70E740481C1C}">
                <a14:useLocalDpi xmlns:a14="http://schemas.microsoft.com/office/drawing/2010/main" val="0"/>
              </a:ext>
            </a:extLst>
          </a:blip>
          <a:stretch>
            <a:fillRect/>
          </a:stretch>
        </p:blipFill>
        <p:spPr bwMode="auto">
          <a:xfrm>
            <a:off x="-1295400" y="304800"/>
            <a:ext cx="7781904" cy="6904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29607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iming>
    <p:tnLst>
      <p:par>
        <p:cTn id="1" dur="indefinite" restart="never" nodeType="tmRoot"/>
      </p:par>
    </p:tnLst>
  </p:timing>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89759" y="1867903"/>
            <a:ext cx="7438699" cy="2237873"/>
          </a:xfrm>
        </p:spPr>
        <p:txBody>
          <a:bodyPr>
            <a:normAutofit/>
          </a:bodyPr>
          <a:lstStyle/>
          <a:p>
            <a:pPr algn="ctr"/>
            <a:r>
              <a:rPr lang="en-US"/>
              <a:t>CHAPTER </a:t>
            </a:r>
            <a:r>
              <a:rPr lang="en-US" smtClean="0"/>
              <a:t>6</a:t>
            </a:r>
            <a:r>
              <a:rPr lang="en-US"/>
              <a:t/>
            </a:r>
            <a:br>
              <a:rPr lang="en-US"/>
            </a:br>
            <a:r>
              <a:rPr lang="en-US"/>
              <a:t> Finding the voice of the user</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82692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0742" y="268639"/>
            <a:ext cx="6811691" cy="1052161"/>
          </a:xfrm>
        </p:spPr>
        <p:txBody>
          <a:bodyPr/>
          <a:lstStyle/>
          <a:p>
            <a:r>
              <a:rPr lang="en-US" sz="2700" smtClean="0"/>
              <a:t>Objectives</a:t>
            </a:r>
            <a:endParaRPr lang="en-US" sz="2700"/>
          </a:p>
        </p:txBody>
      </p:sp>
      <p:sp>
        <p:nvSpPr>
          <p:cNvPr id="4" name="Content Placeholder 2"/>
          <p:cNvSpPr txBox="1">
            <a:spLocks/>
          </p:cNvSpPr>
          <p:nvPr/>
        </p:nvSpPr>
        <p:spPr>
          <a:xfrm>
            <a:off x="673100" y="1320800"/>
            <a:ext cx="7772399" cy="4749800"/>
          </a:xfrm>
          <a:prstGeom prst="rect">
            <a:avLst/>
          </a:prstGeom>
        </p:spPr>
        <p:txBody>
          <a:bodyPr vert="horz" lIns="68580" tIns="34290" rIns="68580" bIns="3429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24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22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20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a:t>Student should understand that the success in software  requirements, and hence in software development, depends on getting the voice of the user close to the ear of the developer. </a:t>
            </a:r>
          </a:p>
          <a:p>
            <a:r>
              <a:rPr lang="en-US"/>
              <a:t> Student should enhance step by step to find the voice of the user</a:t>
            </a:r>
          </a:p>
          <a:p>
            <a:r>
              <a:rPr lang="en-US"/>
              <a:t>Student could classify users and try to understand what type of information the users from each department might supply based on their role in the organization and their department’s perspective on the projects</a:t>
            </a:r>
          </a:p>
          <a:p>
            <a:r>
              <a:rPr lang="en-US"/>
              <a:t>Enhance the differences in user representation on agile projects</a:t>
            </a:r>
          </a:p>
          <a:p>
            <a:endParaRPr lang="en-US"/>
          </a:p>
          <a:p>
            <a:endParaRPr lang="en-US"/>
          </a:p>
        </p:txBody>
      </p:sp>
    </p:spTree>
    <p:extLst>
      <p:ext uri="{BB962C8B-B14F-4D97-AF65-F5344CB8AC3E}">
        <p14:creationId xmlns:p14="http://schemas.microsoft.com/office/powerpoint/2010/main" val="17495207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6942" y="251799"/>
            <a:ext cx="6811691" cy="1052161"/>
          </a:xfrm>
        </p:spPr>
        <p:txBody>
          <a:bodyPr/>
          <a:lstStyle/>
          <a:p>
            <a:r>
              <a:rPr lang="en-US" sz="2700" smtClean="0"/>
              <a:t>Contents</a:t>
            </a:r>
            <a:endParaRPr lang="en-US" sz="2700"/>
          </a:p>
        </p:txBody>
      </p:sp>
      <p:sp>
        <p:nvSpPr>
          <p:cNvPr id="5" name="Content Placeholder 2"/>
          <p:cNvSpPr txBox="1">
            <a:spLocks/>
          </p:cNvSpPr>
          <p:nvPr/>
        </p:nvSpPr>
        <p:spPr>
          <a:xfrm>
            <a:off x="1117600" y="1485900"/>
            <a:ext cx="6896099" cy="4572000"/>
          </a:xfrm>
          <a:prstGeom prst="rect">
            <a:avLst/>
          </a:prstGeom>
        </p:spPr>
        <p:txBody>
          <a:bodyPr vert="horz" lIns="68580" tIns="34290" rIns="68580" bIns="3429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24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22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20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a:t>User classes</a:t>
            </a:r>
          </a:p>
          <a:p>
            <a:r>
              <a:rPr lang="en-US"/>
              <a:t>User personas</a:t>
            </a:r>
          </a:p>
          <a:p>
            <a:r>
              <a:rPr lang="en-US"/>
              <a:t>Connecting with user representatives</a:t>
            </a:r>
          </a:p>
          <a:p>
            <a:r>
              <a:rPr lang="en-US"/>
              <a:t>The product champion</a:t>
            </a:r>
          </a:p>
          <a:p>
            <a:r>
              <a:rPr lang="en-US"/>
              <a:t>User representation on agile projects</a:t>
            </a:r>
          </a:p>
        </p:txBody>
      </p:sp>
    </p:spTree>
    <p:extLst>
      <p:ext uri="{BB962C8B-B14F-4D97-AF65-F5344CB8AC3E}">
        <p14:creationId xmlns:p14="http://schemas.microsoft.com/office/powerpoint/2010/main" val="1436488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8542" y="251799"/>
            <a:ext cx="6811691" cy="1052161"/>
          </a:xfrm>
        </p:spPr>
        <p:txBody>
          <a:bodyPr>
            <a:normAutofit/>
          </a:bodyPr>
          <a:lstStyle/>
          <a:p>
            <a:r>
              <a:rPr lang="en-US" sz="2700" smtClean="0"/>
              <a:t>Finding </a:t>
            </a:r>
            <a:r>
              <a:rPr lang="en-US" sz="2700"/>
              <a:t>the voice of the </a:t>
            </a:r>
            <a:r>
              <a:rPr lang="en-US" sz="2700" smtClean="0"/>
              <a:t>user</a:t>
            </a:r>
            <a:endParaRPr lang="en-US" sz="2700"/>
          </a:p>
        </p:txBody>
      </p:sp>
      <p:sp>
        <p:nvSpPr>
          <p:cNvPr id="3" name="Content Placeholder 2"/>
          <p:cNvSpPr>
            <a:spLocks noGrp="1"/>
          </p:cNvSpPr>
          <p:nvPr>
            <p:ph idx="1"/>
          </p:nvPr>
        </p:nvSpPr>
        <p:spPr/>
        <p:txBody>
          <a:bodyPr>
            <a:normAutofit/>
          </a:bodyPr>
          <a:lstStyle/>
          <a:p>
            <a:r>
              <a:rPr lang="en-US"/>
              <a:t>Steps:</a:t>
            </a:r>
          </a:p>
          <a:p>
            <a:pPr lvl="1"/>
            <a:r>
              <a:rPr lang="en-US"/>
              <a:t>Identify the different classes of users for your product</a:t>
            </a:r>
          </a:p>
          <a:p>
            <a:pPr lvl="1"/>
            <a:r>
              <a:rPr lang="en-US"/>
              <a:t> Select and work with individuals who represent each user class and other stakeholder groups</a:t>
            </a:r>
          </a:p>
          <a:p>
            <a:pPr lvl="1"/>
            <a:r>
              <a:rPr lang="en-US"/>
              <a:t>Agree on who the requirements decision makers are for your project.</a:t>
            </a:r>
          </a:p>
        </p:txBody>
      </p:sp>
    </p:spTree>
    <p:extLst>
      <p:ext uri="{BB962C8B-B14F-4D97-AF65-F5344CB8AC3E}">
        <p14:creationId xmlns:p14="http://schemas.microsoft.com/office/powerpoint/2010/main" val="2617451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5842" y="255939"/>
            <a:ext cx="6811691" cy="1052161"/>
          </a:xfrm>
        </p:spPr>
        <p:txBody>
          <a:bodyPr>
            <a:normAutofit/>
          </a:bodyPr>
          <a:lstStyle/>
          <a:p>
            <a:r>
              <a:rPr lang="en-US" sz="2700"/>
              <a:t> User </a:t>
            </a:r>
            <a:r>
              <a:rPr lang="en-US" sz="2700" smtClean="0"/>
              <a:t>classes: </a:t>
            </a:r>
            <a:r>
              <a:rPr lang="en-US" sz="2700"/>
              <a:t>Classifying users </a:t>
            </a:r>
            <a:br>
              <a:rPr lang="en-US" sz="2700"/>
            </a:br>
            <a:endParaRPr lang="en-US" sz="2700"/>
          </a:p>
        </p:txBody>
      </p:sp>
      <p:sp>
        <p:nvSpPr>
          <p:cNvPr id="3" name="Content Placeholder 2"/>
          <p:cNvSpPr>
            <a:spLocks noGrp="1"/>
          </p:cNvSpPr>
          <p:nvPr>
            <p:ph idx="1"/>
          </p:nvPr>
        </p:nvSpPr>
        <p:spPr>
          <a:xfrm>
            <a:off x="711200" y="1308100"/>
            <a:ext cx="7696200" cy="4787900"/>
          </a:xfrm>
        </p:spPr>
        <p:txBody>
          <a:bodyPr>
            <a:normAutofit lnSpcReduction="10000"/>
          </a:bodyPr>
          <a:lstStyle/>
          <a:p>
            <a:r>
              <a:rPr lang="en-US" dirty="0"/>
              <a:t>Their access privilege or security levels (such as ordinary user, guest user, administrator</a:t>
            </a:r>
            <a:r>
              <a:rPr lang="en-US" dirty="0" smtClean="0"/>
              <a:t>)</a:t>
            </a:r>
          </a:p>
          <a:p>
            <a:r>
              <a:rPr lang="en-US" dirty="0" smtClean="0"/>
              <a:t>The </a:t>
            </a:r>
            <a:r>
              <a:rPr lang="en-US" dirty="0"/>
              <a:t>tasks they perform during their business operations </a:t>
            </a:r>
            <a:endParaRPr lang="en-US" dirty="0" smtClean="0"/>
          </a:p>
          <a:p>
            <a:r>
              <a:rPr lang="en-US" dirty="0" smtClean="0"/>
              <a:t>The </a:t>
            </a:r>
            <a:r>
              <a:rPr lang="en-US" dirty="0"/>
              <a:t>features they </a:t>
            </a:r>
            <a:r>
              <a:rPr lang="en-US" dirty="0" smtClean="0"/>
              <a:t>use</a:t>
            </a:r>
          </a:p>
          <a:p>
            <a:r>
              <a:rPr lang="en-US" dirty="0" smtClean="0"/>
              <a:t>The </a:t>
            </a:r>
            <a:r>
              <a:rPr lang="en-US" dirty="0"/>
              <a:t>frequency with which they use the product </a:t>
            </a:r>
            <a:endParaRPr lang="en-US" dirty="0" smtClean="0"/>
          </a:p>
          <a:p>
            <a:r>
              <a:rPr lang="en-US" dirty="0" smtClean="0"/>
              <a:t>Their </a:t>
            </a:r>
            <a:r>
              <a:rPr lang="en-US" dirty="0"/>
              <a:t>application domain experience and computer systems </a:t>
            </a:r>
            <a:r>
              <a:rPr lang="en-US" dirty="0" smtClean="0"/>
              <a:t>expertise</a:t>
            </a:r>
          </a:p>
          <a:p>
            <a:r>
              <a:rPr lang="en-US" dirty="0" smtClean="0"/>
              <a:t>The </a:t>
            </a:r>
            <a:r>
              <a:rPr lang="en-US" dirty="0"/>
              <a:t>platforms they will be using (desktop PCs, laptop PCs, tablets, smartphones, specialized devices</a:t>
            </a:r>
            <a:r>
              <a:rPr lang="en-US" dirty="0" smtClean="0"/>
              <a:t>)</a:t>
            </a:r>
          </a:p>
          <a:p>
            <a:r>
              <a:rPr lang="en-US" dirty="0" smtClean="0"/>
              <a:t>Their </a:t>
            </a:r>
            <a:r>
              <a:rPr lang="en-US" dirty="0"/>
              <a:t>native </a:t>
            </a:r>
            <a:r>
              <a:rPr lang="en-US" dirty="0" smtClean="0"/>
              <a:t>language</a:t>
            </a:r>
          </a:p>
          <a:p>
            <a:r>
              <a:rPr lang="en-US" dirty="0" smtClean="0"/>
              <a:t>Whether </a:t>
            </a:r>
            <a:r>
              <a:rPr lang="en-US" dirty="0"/>
              <a:t>they will interact with the system directly or indirectly</a:t>
            </a:r>
          </a:p>
          <a:p>
            <a:endParaRPr lang="en-US" dirty="0"/>
          </a:p>
        </p:txBody>
      </p:sp>
    </p:spTree>
    <p:extLst>
      <p:ext uri="{BB962C8B-B14F-4D97-AF65-F5344CB8AC3E}">
        <p14:creationId xmlns:p14="http://schemas.microsoft.com/office/powerpoint/2010/main" val="1637881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700"/>
              <a:t>User </a:t>
            </a:r>
            <a:r>
              <a:rPr lang="en-US" sz="2700" smtClean="0"/>
              <a:t>classes: Identifying  </a:t>
            </a:r>
            <a:r>
              <a:rPr lang="en-US" sz="2700"/>
              <a:t>user </a:t>
            </a:r>
            <a:r>
              <a:rPr lang="en-US" sz="2700" smtClean="0"/>
              <a:t>classes for your project</a:t>
            </a:r>
            <a:endParaRPr lang="en-US" sz="2700"/>
          </a:p>
        </p:txBody>
      </p:sp>
      <p:sp>
        <p:nvSpPr>
          <p:cNvPr id="3" name="Content Placeholder 2"/>
          <p:cNvSpPr>
            <a:spLocks noGrp="1"/>
          </p:cNvSpPr>
          <p:nvPr>
            <p:ph idx="1"/>
          </p:nvPr>
        </p:nvSpPr>
        <p:spPr/>
        <p:txBody>
          <a:bodyPr/>
          <a:lstStyle/>
          <a:p>
            <a:r>
              <a:rPr lang="en-US"/>
              <a:t>A useful technique for this is a collaboration pattern (Ellen Gottesdiener </a:t>
            </a:r>
            <a:r>
              <a:rPr lang="en-US" smtClean="0"/>
              <a:t>)</a:t>
            </a:r>
          </a:p>
          <a:p>
            <a:r>
              <a:rPr lang="en-US" smtClean="0"/>
              <a:t>The </a:t>
            </a:r>
            <a:r>
              <a:rPr lang="en-US"/>
              <a:t>external entities shown outside your system on a context </a:t>
            </a:r>
            <a:r>
              <a:rPr lang="en-US" smtClean="0"/>
              <a:t>diagram </a:t>
            </a:r>
            <a:r>
              <a:rPr lang="en-US"/>
              <a:t>are  candidates for user </a:t>
            </a:r>
            <a:r>
              <a:rPr lang="en-US" smtClean="0"/>
              <a:t>classes.</a:t>
            </a:r>
          </a:p>
          <a:p>
            <a:r>
              <a:rPr lang="en-US"/>
              <a:t> A corporate organization chart can also help you discover potential users and other stakeholders (Beatty and Chen 2012). </a:t>
            </a:r>
          </a:p>
        </p:txBody>
      </p:sp>
    </p:spTree>
    <p:extLst>
      <p:ext uri="{BB962C8B-B14F-4D97-AF65-F5344CB8AC3E}">
        <p14:creationId xmlns:p14="http://schemas.microsoft.com/office/powerpoint/2010/main" val="1090747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0442" y="187091"/>
            <a:ext cx="6811691" cy="1052161"/>
          </a:xfrm>
        </p:spPr>
        <p:txBody>
          <a:bodyPr/>
          <a:lstStyle/>
          <a:p>
            <a:r>
              <a:rPr lang="en-US" sz="2700" smtClean="0"/>
              <a:t>User personas</a:t>
            </a:r>
            <a:endParaRPr lang="en-US" sz="2700"/>
          </a:p>
        </p:txBody>
      </p:sp>
      <p:sp>
        <p:nvSpPr>
          <p:cNvPr id="3" name="Content Placeholder 2"/>
          <p:cNvSpPr>
            <a:spLocks noGrp="1"/>
          </p:cNvSpPr>
          <p:nvPr>
            <p:ph idx="1"/>
          </p:nvPr>
        </p:nvSpPr>
        <p:spPr/>
        <p:txBody>
          <a:bodyPr/>
          <a:lstStyle/>
          <a:p>
            <a:r>
              <a:rPr lang="en-US" dirty="0" smtClean="0"/>
              <a:t>A </a:t>
            </a:r>
            <a:r>
              <a:rPr lang="en-US" dirty="0"/>
              <a:t>persona is a </a:t>
            </a:r>
            <a:r>
              <a:rPr lang="en-US" dirty="0" smtClean="0"/>
              <a:t>description </a:t>
            </a:r>
            <a:r>
              <a:rPr lang="en-US" dirty="0"/>
              <a:t>of a hypothetical, generic person who serves as a stand-in for a group of users having similar </a:t>
            </a:r>
            <a:r>
              <a:rPr lang="en-US" dirty="0" smtClean="0"/>
              <a:t>characteristics </a:t>
            </a:r>
            <a:r>
              <a:rPr lang="en-US" dirty="0"/>
              <a:t>and needs. </a:t>
            </a:r>
            <a:endParaRPr lang="en-US" dirty="0" smtClean="0"/>
          </a:p>
          <a:p>
            <a:r>
              <a:rPr lang="en-US" dirty="0" smtClean="0"/>
              <a:t>Using personas understand </a:t>
            </a:r>
            <a:r>
              <a:rPr lang="en-US" dirty="0"/>
              <a:t>the requirements and to design the user experience to best meet the needs of specific user </a:t>
            </a:r>
            <a:r>
              <a:rPr lang="en-US" dirty="0" smtClean="0"/>
              <a:t>communities.</a:t>
            </a:r>
            <a:endParaRPr lang="en-US" dirty="0"/>
          </a:p>
        </p:txBody>
      </p:sp>
    </p:spTree>
    <p:extLst>
      <p:ext uri="{BB962C8B-B14F-4D97-AF65-F5344CB8AC3E}">
        <p14:creationId xmlns:p14="http://schemas.microsoft.com/office/powerpoint/2010/main" val="2586530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8542" y="138965"/>
            <a:ext cx="6811691" cy="1052161"/>
          </a:xfrm>
        </p:spPr>
        <p:txBody>
          <a:bodyPr>
            <a:normAutofit/>
          </a:bodyPr>
          <a:lstStyle/>
          <a:p>
            <a:r>
              <a:rPr lang="en-US" sz="2700"/>
              <a:t>Connecting with user representatives</a:t>
            </a:r>
          </a:p>
        </p:txBody>
      </p:sp>
      <p:sp>
        <p:nvSpPr>
          <p:cNvPr id="3" name="Content Placeholder 2"/>
          <p:cNvSpPr>
            <a:spLocks noGrp="1"/>
          </p:cNvSpPr>
          <p:nvPr>
            <p:ph idx="1"/>
          </p:nvPr>
        </p:nvSpPr>
        <p:spPr/>
        <p:txBody>
          <a:bodyPr/>
          <a:lstStyle/>
          <a:p>
            <a:r>
              <a:rPr lang="en-US"/>
              <a:t>Why </a:t>
            </a:r>
            <a:r>
              <a:rPr lang="en-US" smtClean="0"/>
              <a:t>do each </a:t>
            </a:r>
            <a:r>
              <a:rPr lang="en-US"/>
              <a:t>user class needs someone to speak for </a:t>
            </a:r>
            <a:r>
              <a:rPr lang="en-US" smtClean="0"/>
              <a:t>requirements?</a:t>
            </a:r>
          </a:p>
          <a:p>
            <a:r>
              <a:rPr lang="en-US"/>
              <a:t> </a:t>
            </a:r>
            <a:r>
              <a:rPr lang="en-US" smtClean="0"/>
              <a:t>Typical </a:t>
            </a:r>
            <a:r>
              <a:rPr lang="en-US"/>
              <a:t>communication </a:t>
            </a:r>
            <a:r>
              <a:rPr lang="en-US" smtClean="0"/>
              <a:t>pathways between users and developers</a:t>
            </a:r>
            <a:endParaRPr lang="en-US"/>
          </a:p>
        </p:txBody>
      </p:sp>
    </p:spTree>
    <p:extLst>
      <p:ext uri="{BB962C8B-B14F-4D97-AF65-F5344CB8AC3E}">
        <p14:creationId xmlns:p14="http://schemas.microsoft.com/office/powerpoint/2010/main" val="2222824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9798" y="0"/>
            <a:ext cx="6634802" cy="632807"/>
          </a:xfrm>
        </p:spPr>
        <p:txBody>
          <a:bodyPr>
            <a:noAutofit/>
          </a:bodyPr>
          <a:lstStyle/>
          <a:p>
            <a:pPr algn="ctr"/>
            <a:r>
              <a:rPr lang="en-US" sz="2700"/>
              <a:t>Typical communication pathways between users and developers</a:t>
            </a:r>
          </a:p>
        </p:txBody>
      </p:sp>
      <p:pic>
        <p:nvPicPr>
          <p:cNvPr id="4" name="Picture 3"/>
          <p:cNvPicPr>
            <a:picLocks noChangeAspect="1"/>
          </p:cNvPicPr>
          <p:nvPr/>
        </p:nvPicPr>
        <p:blipFill>
          <a:blip r:embed="rId2"/>
          <a:stretch>
            <a:fillRect/>
          </a:stretch>
        </p:blipFill>
        <p:spPr>
          <a:xfrm>
            <a:off x="2102800" y="1958140"/>
            <a:ext cx="5017247" cy="3610089"/>
          </a:xfrm>
          <a:prstGeom prst="rect">
            <a:avLst/>
          </a:prstGeom>
        </p:spPr>
      </p:pic>
    </p:spTree>
    <p:extLst>
      <p:ext uri="{BB962C8B-B14F-4D97-AF65-F5344CB8AC3E}">
        <p14:creationId xmlns:p14="http://schemas.microsoft.com/office/powerpoint/2010/main" val="1387571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3442" y="265965"/>
            <a:ext cx="6811691" cy="1052161"/>
          </a:xfrm>
        </p:spPr>
        <p:txBody>
          <a:bodyPr/>
          <a:lstStyle/>
          <a:p>
            <a:r>
              <a:rPr lang="en-US" sz="2400" smtClean="0"/>
              <a:t>Product champion</a:t>
            </a:r>
            <a:endParaRPr lang="en-US" sz="2400"/>
          </a:p>
        </p:txBody>
      </p:sp>
      <p:sp>
        <p:nvSpPr>
          <p:cNvPr id="3" name="Content Placeholder 2"/>
          <p:cNvSpPr>
            <a:spLocks noGrp="1"/>
          </p:cNvSpPr>
          <p:nvPr>
            <p:ph idx="1"/>
          </p:nvPr>
        </p:nvSpPr>
        <p:spPr/>
        <p:txBody>
          <a:bodyPr/>
          <a:lstStyle/>
          <a:p>
            <a:r>
              <a:rPr lang="en-US"/>
              <a:t>Definition: product </a:t>
            </a:r>
            <a:r>
              <a:rPr lang="en-US" smtClean="0"/>
              <a:t>champions?</a:t>
            </a:r>
          </a:p>
          <a:p>
            <a:r>
              <a:rPr lang="en-US" smtClean="0"/>
              <a:t>What does the product champion do?</a:t>
            </a:r>
          </a:p>
          <a:p>
            <a:r>
              <a:rPr lang="en-US" smtClean="0"/>
              <a:t>External product champion</a:t>
            </a:r>
          </a:p>
          <a:p>
            <a:r>
              <a:rPr lang="en-US"/>
              <a:t>Product champion </a:t>
            </a:r>
            <a:r>
              <a:rPr lang="en-US" smtClean="0"/>
              <a:t>expectations</a:t>
            </a:r>
          </a:p>
          <a:p>
            <a:r>
              <a:rPr lang="en-US"/>
              <a:t>Multiple product </a:t>
            </a:r>
            <a:r>
              <a:rPr lang="en-US" smtClean="0"/>
              <a:t>champions</a:t>
            </a:r>
          </a:p>
          <a:p>
            <a:r>
              <a:rPr lang="en-US"/>
              <a:t>Selling the product champion </a:t>
            </a:r>
            <a:r>
              <a:rPr lang="en-US" smtClean="0"/>
              <a:t>idea</a:t>
            </a:r>
          </a:p>
          <a:p>
            <a:r>
              <a:rPr lang="en-US"/>
              <a:t>Product champion traps to avoid</a:t>
            </a:r>
          </a:p>
          <a:p>
            <a:endParaRPr lang="en-US"/>
          </a:p>
        </p:txBody>
      </p:sp>
    </p:spTree>
    <p:extLst>
      <p:ext uri="{BB962C8B-B14F-4D97-AF65-F5344CB8AC3E}">
        <p14:creationId xmlns:p14="http://schemas.microsoft.com/office/powerpoint/2010/main" val="2959090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4412" y="172599"/>
            <a:ext cx="6811691" cy="1052161"/>
          </a:xfrm>
        </p:spPr>
        <p:txBody>
          <a:bodyPr>
            <a:normAutofit/>
          </a:bodyPr>
          <a:lstStyle/>
          <a:p>
            <a:r>
              <a:rPr lang="en-US" sz="2700"/>
              <a:t>Product champion expectations </a:t>
            </a:r>
          </a:p>
        </p:txBody>
      </p:sp>
      <p:pic>
        <p:nvPicPr>
          <p:cNvPr id="4" name="Picture 3"/>
          <p:cNvPicPr>
            <a:picLocks noChangeAspect="1"/>
          </p:cNvPicPr>
          <p:nvPr/>
        </p:nvPicPr>
        <p:blipFill>
          <a:blip r:embed="rId2"/>
          <a:stretch>
            <a:fillRect/>
          </a:stretch>
        </p:blipFill>
        <p:spPr>
          <a:xfrm>
            <a:off x="676534" y="999454"/>
            <a:ext cx="6435466" cy="2894513"/>
          </a:xfrm>
          <a:prstGeom prst="rect">
            <a:avLst/>
          </a:prstGeom>
        </p:spPr>
      </p:pic>
      <p:pic>
        <p:nvPicPr>
          <p:cNvPr id="7" name="Picture 6"/>
          <p:cNvPicPr>
            <a:picLocks noChangeAspect="1"/>
          </p:cNvPicPr>
          <p:nvPr/>
        </p:nvPicPr>
        <p:blipFill>
          <a:blip r:embed="rId3"/>
          <a:stretch>
            <a:fillRect/>
          </a:stretch>
        </p:blipFill>
        <p:spPr>
          <a:xfrm>
            <a:off x="574842" y="3893967"/>
            <a:ext cx="7147016" cy="2443332"/>
          </a:xfrm>
          <a:prstGeom prst="rect">
            <a:avLst/>
          </a:prstGeom>
        </p:spPr>
      </p:pic>
    </p:spTree>
    <p:extLst>
      <p:ext uri="{BB962C8B-B14F-4D97-AF65-F5344CB8AC3E}">
        <p14:creationId xmlns:p14="http://schemas.microsoft.com/office/powerpoint/2010/main" val="3287547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0442" y="277199"/>
            <a:ext cx="6811691" cy="1052161"/>
          </a:xfrm>
        </p:spPr>
        <p:txBody>
          <a:bodyPr>
            <a:normAutofit/>
          </a:bodyPr>
          <a:lstStyle/>
          <a:p>
            <a:r>
              <a:rPr lang="en-US" sz="2700"/>
              <a:t>User representation on agile projects</a:t>
            </a:r>
          </a:p>
        </p:txBody>
      </p:sp>
      <p:sp>
        <p:nvSpPr>
          <p:cNvPr id="3" name="Content Placeholder 2"/>
          <p:cNvSpPr>
            <a:spLocks noGrp="1"/>
          </p:cNvSpPr>
          <p:nvPr>
            <p:ph idx="1"/>
          </p:nvPr>
        </p:nvSpPr>
        <p:spPr/>
        <p:txBody>
          <a:bodyPr/>
          <a:lstStyle/>
          <a:p>
            <a:r>
              <a:rPr lang="en-US" smtClean="0"/>
              <a:t>Product owner</a:t>
            </a:r>
          </a:p>
          <a:p>
            <a:r>
              <a:rPr lang="en-US" smtClean="0"/>
              <a:t>Differentiate between the </a:t>
            </a:r>
            <a:r>
              <a:rPr lang="en-US"/>
              <a:t>product owner and product </a:t>
            </a:r>
            <a:r>
              <a:rPr lang="en-US" smtClean="0"/>
              <a:t>champion</a:t>
            </a:r>
            <a:endParaRPr lang="en-US"/>
          </a:p>
        </p:txBody>
      </p:sp>
    </p:spTree>
    <p:extLst>
      <p:ext uri="{BB962C8B-B14F-4D97-AF65-F5344CB8AC3E}">
        <p14:creationId xmlns:p14="http://schemas.microsoft.com/office/powerpoint/2010/main" val="3506639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9642" y="239099"/>
            <a:ext cx="6811691" cy="1052161"/>
          </a:xfrm>
        </p:spPr>
        <p:txBody>
          <a:bodyPr/>
          <a:lstStyle/>
          <a:p>
            <a:r>
              <a:rPr lang="en-US" sz="2400"/>
              <a:t>Resolving conflicting requirements</a:t>
            </a:r>
          </a:p>
        </p:txBody>
      </p:sp>
      <p:pic>
        <p:nvPicPr>
          <p:cNvPr id="4" name="Picture 3"/>
          <p:cNvPicPr>
            <a:picLocks noChangeAspect="1"/>
          </p:cNvPicPr>
          <p:nvPr/>
        </p:nvPicPr>
        <p:blipFill>
          <a:blip r:embed="rId2"/>
          <a:stretch>
            <a:fillRect/>
          </a:stretch>
        </p:blipFill>
        <p:spPr>
          <a:xfrm>
            <a:off x="765061" y="1291260"/>
            <a:ext cx="7745658" cy="2810840"/>
          </a:xfrm>
          <a:prstGeom prst="rect">
            <a:avLst/>
          </a:prstGeom>
        </p:spPr>
      </p:pic>
    </p:spTree>
    <p:extLst>
      <p:ext uri="{BB962C8B-B14F-4D97-AF65-F5344CB8AC3E}">
        <p14:creationId xmlns:p14="http://schemas.microsoft.com/office/powerpoint/2010/main" val="3303957790"/>
      </p:ext>
    </p:extLst>
  </p:cSld>
  <p:clrMapOvr>
    <a:masterClrMapping/>
  </p:clrMapOvr>
</p:sld>
</file>

<file path=ppt/theme/theme1.xml><?xml version="1.0" encoding="utf-8"?>
<a:theme xmlns:a="http://schemas.openxmlformats.org/drawingml/2006/main" name="The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2" id="{EB6DEE63-BE41-41AB-9512-0AD4948D9815}" vid="{C06A2116-4534-44AC-A79C-40D866AE0D36}"/>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4</TotalTime>
  <Words>457</Words>
  <Application>Microsoft Office PowerPoint</Application>
  <PresentationFormat>On-screen Show (4:3)</PresentationFormat>
  <Paragraphs>53</Paragraphs>
  <Slides>13</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Myriad Pro</vt:lpstr>
      <vt:lpstr>Arial</vt:lpstr>
      <vt:lpstr>Calibri</vt:lpstr>
      <vt:lpstr>Wingdings 3</vt:lpstr>
      <vt:lpstr>Theme2</vt:lpstr>
      <vt:lpstr>Custom Design</vt:lpstr>
      <vt:lpstr>CHAPTER 6  Finding the voice of the user</vt:lpstr>
      <vt:lpstr>Objectives</vt:lpstr>
      <vt:lpstr>Contents</vt:lpstr>
      <vt:lpstr>Finding the voice of the user</vt:lpstr>
      <vt:lpstr> User classes: Classifying users  </vt:lpstr>
      <vt:lpstr>User classes: Identifying  user classes for your project</vt:lpstr>
      <vt:lpstr>User personas</vt:lpstr>
      <vt:lpstr>Connecting with user representatives</vt:lpstr>
      <vt:lpstr>Typical communication pathways between users and developers</vt:lpstr>
      <vt:lpstr>Product champion</vt:lpstr>
      <vt:lpstr>Product champion expectations </vt:lpstr>
      <vt:lpstr>User representation on agile projects</vt:lpstr>
      <vt:lpstr>Resolving conflicting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Finding the voice of the user</dc:title>
  <dc:creator>Huong</dc:creator>
  <cp:lastModifiedBy>NhanDT2</cp:lastModifiedBy>
  <cp:revision>20</cp:revision>
  <dcterms:created xsi:type="dcterms:W3CDTF">2018-04-24T06:15:53Z</dcterms:created>
  <dcterms:modified xsi:type="dcterms:W3CDTF">2025-06-24T00:07:34Z</dcterms:modified>
</cp:coreProperties>
</file>