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13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4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8F8823-BEE8-49D6-AE7C-644654359F61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FDC7A-6230-4540-8CD2-5B87F251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15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Count the effort devoted to the following activities as requirements management effort: </a:t>
            </a:r>
          </a:p>
          <a:p>
            <a:pPr lvl="1"/>
            <a:r>
              <a:rPr lang="en-US" sz="2400" smtClean="0"/>
              <a:t>Configuring a requirements management tool for your project </a:t>
            </a:r>
          </a:p>
          <a:p>
            <a:pPr lvl="1"/>
            <a:r>
              <a:rPr lang="en-US" sz="2400" smtClean="0"/>
              <a:t>Submitting requirements changes and proposing new requirements </a:t>
            </a:r>
          </a:p>
          <a:p>
            <a:pPr lvl="1"/>
            <a:r>
              <a:rPr lang="en-US" sz="2400" smtClean="0"/>
              <a:t>Evaluating proposed changes, including performing impact analysis and making decisions </a:t>
            </a:r>
          </a:p>
          <a:p>
            <a:pPr lvl="1"/>
            <a:r>
              <a:rPr lang="en-US" sz="2400" smtClean="0"/>
              <a:t>Updating the requirements repository</a:t>
            </a:r>
          </a:p>
          <a:p>
            <a:pPr lvl="1"/>
            <a:r>
              <a:rPr lang="en-US" sz="2400" smtClean="0"/>
              <a:t>Communicating requirements changes to affected stakeholders </a:t>
            </a:r>
          </a:p>
          <a:p>
            <a:pPr lvl="1"/>
            <a:r>
              <a:rPr lang="en-US" sz="2400" smtClean="0"/>
              <a:t>Tracking and reporting requirements status </a:t>
            </a:r>
          </a:p>
          <a:p>
            <a:pPr lvl="1"/>
            <a:r>
              <a:rPr lang="en-US" sz="2400" smtClean="0"/>
              <a:t>Creating requirements trace information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6FDC7A-6230-4540-8CD2-5B87F251F23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381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ED8C4DA6-F45C-4AB2-BD90-BFEB4CE0BE7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5430" y="415492"/>
            <a:ext cx="174171" cy="194108"/>
          </a:xfrm>
          <a:prstGeom prst="rect">
            <a:avLst/>
          </a:pr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28600"/>
            <a:ext cx="5638800" cy="457200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F47206"/>
                </a:solidFill>
                <a:latin typeface="Myriad Pro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7" name="Straight Connector 6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28" y="194689"/>
            <a:ext cx="2142909" cy="80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2225842" y="0"/>
            <a:ext cx="6811691" cy="997155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r>
              <a:rPr lang="en-US" sz="3200" smtClean="0"/>
              <a:t>Click to edit Master title style</a:t>
            </a:r>
            <a:endParaRPr lang="en-US" sz="3200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872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1628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ED8C4DA6-F45C-4AB2-BD90-BFEB4CE0BE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25842" y="1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5149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4478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ED8C4DA6-F45C-4AB2-BD90-BFEB4CE0BE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0180" y="1191125"/>
            <a:ext cx="7772399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780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ED8C4DA6-F45C-4AB2-BD90-BFEB4CE0BE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33863" y="0"/>
            <a:ext cx="6811691" cy="9144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201" y="1230714"/>
            <a:ext cx="7772399" cy="49570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9668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ED8C4DA6-F45C-4AB2-BD90-BFEB4CE0BE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09854" y="0"/>
            <a:ext cx="6927680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97832" y="1191125"/>
            <a:ext cx="7904747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4351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C4DA6-F45C-4AB2-BD90-BFEB4CE0BE7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4821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/>
          <a:lstStyle/>
          <a:p>
            <a:fld id="{02FB8F59-A6A0-4E44-B345-907FA4DB8E3B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ED8C4DA6-F45C-4AB2-BD90-BFEB4CE0B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953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0499"/>
            <a:ext cx="6811691" cy="105216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55042" y="6130437"/>
            <a:ext cx="1347537" cy="370396"/>
          </a:xfrm>
          <a:prstGeom prst="rect">
            <a:avLst/>
          </a:prstGeom>
        </p:spPr>
        <p:txBody>
          <a:bodyPr/>
          <a:lstStyle/>
          <a:p>
            <a:fld id="{02FB8F59-A6A0-4E44-B345-907FA4DB8E3B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0180" y="6135809"/>
            <a:ext cx="682673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C4DA6-F45C-4AB2-BD90-BFEB4CE0B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078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3677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1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06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03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279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32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383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66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35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65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6/30/2022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4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ED8C4DA6-F45C-4AB2-BD90-BFEB4CE0BE7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29" y="42289"/>
            <a:ext cx="2258580" cy="84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2438400" y="301627"/>
            <a:ext cx="6705600" cy="688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sz="27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2225842" y="166909"/>
            <a:ext cx="6811691" cy="1326753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92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1500" b="1" kern="1200">
          <a:solidFill>
            <a:srgbClr val="0066B2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28" y="184834"/>
            <a:ext cx="2214339" cy="82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95400" y="304800"/>
            <a:ext cx="7781904" cy="69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386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iming>
    <p:tnLst>
      <p:par>
        <p:cTn id="1" dur="indefinite" restart="never" nodeType="tmRoot"/>
      </p:par>
    </p:tnLst>
  </p:timing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67903"/>
            <a:ext cx="8928099" cy="2237873"/>
          </a:xfrm>
        </p:spPr>
        <p:txBody>
          <a:bodyPr>
            <a:normAutofit/>
          </a:bodyPr>
          <a:lstStyle/>
          <a:p>
            <a:pPr algn="ctr"/>
            <a:r>
              <a:rPr lang="en-US"/>
              <a:t>Chapter 27 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Requirements </a:t>
            </a:r>
            <a:r>
              <a:rPr lang="en-US"/>
              <a:t>management practices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98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Objectives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320800"/>
            <a:ext cx="7772400" cy="4711700"/>
          </a:xfrm>
        </p:spPr>
        <p:txBody>
          <a:bodyPr>
            <a:normAutofit/>
          </a:bodyPr>
          <a:lstStyle/>
          <a:p>
            <a:r>
              <a:rPr lang="en-US" smtClean="0"/>
              <a:t>Addresses </a:t>
            </a:r>
            <a:r>
              <a:rPr lang="en-US"/>
              <a:t>some principles and practices of requirements </a:t>
            </a:r>
            <a:r>
              <a:rPr lang="en-US" smtClean="0"/>
              <a:t>management. </a:t>
            </a:r>
          </a:p>
          <a:p>
            <a:r>
              <a:rPr lang="en-US" smtClean="0"/>
              <a:t>Student should enhance that effective management and communication among </a:t>
            </a:r>
            <a:r>
              <a:rPr lang="en-US"/>
              <a:t>the project </a:t>
            </a:r>
            <a:r>
              <a:rPr lang="en-US" smtClean="0"/>
              <a:t>participants take an important role in </a:t>
            </a:r>
            <a:r>
              <a:rPr lang="en-US"/>
              <a:t>having great </a:t>
            </a:r>
            <a:r>
              <a:rPr lang="en-US" smtClean="0"/>
              <a:t>requirements.</a:t>
            </a:r>
          </a:p>
          <a:p>
            <a:r>
              <a:rPr lang="en-US" smtClean="0"/>
              <a:t>Student should only understand basic concepts.  The more detail of every process will be clarified in the next chapters.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6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615" y="-190852"/>
            <a:ext cx="5290886" cy="1032060"/>
          </a:xfrm>
        </p:spPr>
        <p:txBody>
          <a:bodyPr>
            <a:normAutofit fontScale="90000"/>
          </a:bodyPr>
          <a:lstStyle/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Contents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3626" y="2183733"/>
            <a:ext cx="5290886" cy="30437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25500" y="1320800"/>
            <a:ext cx="7404100" cy="46101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Requirements management process </a:t>
            </a:r>
          </a:p>
          <a:p>
            <a:r>
              <a:rPr lang="en-US"/>
              <a:t>Requirement attributes </a:t>
            </a:r>
          </a:p>
          <a:p>
            <a:r>
              <a:rPr lang="en-US"/>
              <a:t>Tracking requirements status</a:t>
            </a:r>
          </a:p>
          <a:p>
            <a:r>
              <a:rPr lang="en-US"/>
              <a:t>Resolving requirements issues</a:t>
            </a:r>
          </a:p>
          <a:p>
            <a:r>
              <a:rPr lang="en-US"/>
              <a:t>Common types of requirements issues </a:t>
            </a:r>
          </a:p>
          <a:p>
            <a:r>
              <a:rPr lang="en-US"/>
              <a:t>Measuring requirements effort</a:t>
            </a:r>
          </a:p>
          <a:p>
            <a:r>
              <a:rPr lang="en-US"/>
              <a:t>Managing requirements on agile projects</a:t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17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Requirements management process</a:t>
            </a:r>
            <a:br>
              <a:rPr lang="en-US"/>
            </a:b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70970"/>
            <a:ext cx="7264400" cy="478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14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Requirement attributes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600" y="1270000"/>
            <a:ext cx="7340600" cy="45847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Date the requirement was </a:t>
            </a:r>
            <a:r>
              <a:rPr lang="en-US" dirty="0" smtClean="0"/>
              <a:t>created</a:t>
            </a:r>
          </a:p>
          <a:p>
            <a:r>
              <a:rPr lang="en-US" dirty="0" smtClean="0"/>
              <a:t>Current </a:t>
            </a:r>
            <a:r>
              <a:rPr lang="en-US" dirty="0"/>
              <a:t>version number of the </a:t>
            </a:r>
            <a:r>
              <a:rPr lang="en-US" dirty="0" smtClean="0"/>
              <a:t>requirement</a:t>
            </a:r>
          </a:p>
          <a:p>
            <a:r>
              <a:rPr lang="en-US" dirty="0" smtClean="0"/>
              <a:t>Author </a:t>
            </a:r>
            <a:r>
              <a:rPr lang="en-US" dirty="0"/>
              <a:t>who wrote the </a:t>
            </a:r>
            <a:r>
              <a:rPr lang="en-US" dirty="0" smtClean="0"/>
              <a:t>requirement</a:t>
            </a:r>
          </a:p>
          <a:p>
            <a:r>
              <a:rPr lang="en-US" dirty="0" smtClean="0"/>
              <a:t>Priority </a:t>
            </a:r>
            <a:endParaRPr lang="en-US" dirty="0" smtClean="0"/>
          </a:p>
          <a:p>
            <a:r>
              <a:rPr lang="en-US" dirty="0" smtClean="0"/>
              <a:t>Status</a:t>
            </a:r>
          </a:p>
          <a:p>
            <a:r>
              <a:rPr lang="en-US" dirty="0" smtClean="0"/>
              <a:t>Origin </a:t>
            </a:r>
            <a:r>
              <a:rPr lang="en-US" dirty="0"/>
              <a:t>or source of the </a:t>
            </a:r>
            <a:r>
              <a:rPr lang="en-US" dirty="0" smtClean="0"/>
              <a:t>requirement</a:t>
            </a:r>
          </a:p>
          <a:p>
            <a:r>
              <a:rPr lang="en-US" dirty="0" smtClean="0"/>
              <a:t>Rationale </a:t>
            </a:r>
            <a:r>
              <a:rPr lang="en-US" dirty="0"/>
              <a:t>behind the </a:t>
            </a:r>
            <a:r>
              <a:rPr lang="en-US" dirty="0" smtClean="0"/>
              <a:t>requirement</a:t>
            </a:r>
          </a:p>
          <a:p>
            <a:r>
              <a:rPr lang="en-US" dirty="0" smtClean="0"/>
              <a:t>Release </a:t>
            </a:r>
            <a:r>
              <a:rPr lang="en-US" dirty="0"/>
              <a:t>number or iteration to which the requirement is allocated </a:t>
            </a:r>
            <a:endParaRPr lang="en-US" dirty="0" smtClean="0"/>
          </a:p>
          <a:p>
            <a:r>
              <a:rPr lang="en-US" dirty="0" smtClean="0"/>
              <a:t>Stakeholder </a:t>
            </a:r>
            <a:r>
              <a:rPr lang="en-US" dirty="0"/>
              <a:t>to contact with questions or to make decisions about proposed </a:t>
            </a:r>
            <a:r>
              <a:rPr lang="en-US" dirty="0" smtClean="0"/>
              <a:t>changes</a:t>
            </a:r>
          </a:p>
          <a:p>
            <a:r>
              <a:rPr lang="en-US" dirty="0" smtClean="0"/>
              <a:t>Validation </a:t>
            </a:r>
            <a:r>
              <a:rPr lang="en-US" dirty="0"/>
              <a:t>method to be used or acceptance criteria</a:t>
            </a:r>
          </a:p>
        </p:txBody>
      </p:sp>
    </p:spTree>
    <p:extLst>
      <p:ext uri="{BB962C8B-B14F-4D97-AF65-F5344CB8AC3E}">
        <p14:creationId xmlns:p14="http://schemas.microsoft.com/office/powerpoint/2010/main" val="393504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Tracking requirements status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215495"/>
            <a:ext cx="7647980" cy="482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63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Resolving requirements issues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282700"/>
            <a:ext cx="7619999" cy="4432300"/>
          </a:xfrm>
        </p:spPr>
        <p:txBody>
          <a:bodyPr>
            <a:normAutofit/>
          </a:bodyPr>
          <a:lstStyle/>
          <a:p>
            <a:r>
              <a:rPr lang="en-US" b="1" smtClean="0"/>
              <a:t>Benefits:</a:t>
            </a:r>
          </a:p>
          <a:p>
            <a:pPr lvl="1"/>
            <a:r>
              <a:rPr lang="en-US"/>
              <a:t>Issues from multiple requirements reviews are collected so that no issue ever gets lost</a:t>
            </a:r>
            <a:r>
              <a:rPr lang="en-US" smtClean="0"/>
              <a:t>.</a:t>
            </a:r>
          </a:p>
          <a:p>
            <a:pPr lvl="1"/>
            <a:r>
              <a:rPr lang="en-US" smtClean="0"/>
              <a:t> The </a:t>
            </a:r>
            <a:r>
              <a:rPr lang="en-US"/>
              <a:t>project manager can easily see the current status of all issues. </a:t>
            </a:r>
          </a:p>
          <a:p>
            <a:pPr lvl="1"/>
            <a:r>
              <a:rPr lang="en-US" smtClean="0"/>
              <a:t>A </a:t>
            </a:r>
            <a:r>
              <a:rPr lang="en-US"/>
              <a:t>single owner can be assigned to each issue. </a:t>
            </a:r>
          </a:p>
          <a:p>
            <a:pPr lvl="1"/>
            <a:r>
              <a:rPr lang="en-US" smtClean="0"/>
              <a:t>The </a:t>
            </a:r>
            <a:r>
              <a:rPr lang="en-US"/>
              <a:t>history of discussion around an issue can be retained. </a:t>
            </a:r>
          </a:p>
          <a:p>
            <a:pPr lvl="1"/>
            <a:r>
              <a:rPr lang="en-US" smtClean="0"/>
              <a:t>The </a:t>
            </a:r>
            <a:r>
              <a:rPr lang="en-US"/>
              <a:t>team can begin development earlier with a known set of open issues rather than having to wait until the SRS is complete. </a:t>
            </a:r>
          </a:p>
        </p:txBody>
      </p:sp>
    </p:spTree>
    <p:extLst>
      <p:ext uri="{BB962C8B-B14F-4D97-AF65-F5344CB8AC3E}">
        <p14:creationId xmlns:p14="http://schemas.microsoft.com/office/powerpoint/2010/main" val="1619529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Common types </a:t>
            </a:r>
            <a:r>
              <a:rPr lang="en-US" smtClean="0"/>
              <a:t>of</a:t>
            </a:r>
            <a:br>
              <a:rPr lang="en-US" smtClean="0"/>
            </a:br>
            <a:r>
              <a:rPr lang="en-US" smtClean="0"/>
              <a:t> </a:t>
            </a:r>
            <a:r>
              <a:rPr lang="en-US"/>
              <a:t>requirements issues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222" y="1447800"/>
            <a:ext cx="7953996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98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8542" y="150199"/>
            <a:ext cx="6811691" cy="1052161"/>
          </a:xfrm>
        </p:spPr>
        <p:txBody>
          <a:bodyPr>
            <a:normAutofit fontScale="90000"/>
          </a:bodyPr>
          <a:lstStyle/>
          <a:p>
            <a:r>
              <a:rPr lang="en-US"/>
              <a:t>Measuring requirements effort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1202360"/>
            <a:ext cx="7861300" cy="4701150"/>
          </a:xfrm>
        </p:spPr>
        <p:txBody>
          <a:bodyPr>
            <a:noAutofit/>
          </a:bodyPr>
          <a:lstStyle/>
          <a:p>
            <a:r>
              <a:rPr lang="en-US" dirty="0"/>
              <a:t>Planning requirements-related activities for the </a:t>
            </a:r>
            <a:r>
              <a:rPr lang="en-US" dirty="0" smtClean="0"/>
              <a:t>project</a:t>
            </a:r>
          </a:p>
          <a:p>
            <a:r>
              <a:rPr lang="en-US" dirty="0" smtClean="0"/>
              <a:t>Holding </a:t>
            </a:r>
            <a:r>
              <a:rPr lang="en-US" dirty="0"/>
              <a:t>workshops and interviews, analyzing documents, and performing other elicitation </a:t>
            </a:r>
            <a:r>
              <a:rPr lang="en-US" dirty="0" smtClean="0"/>
              <a:t>activities</a:t>
            </a:r>
          </a:p>
          <a:p>
            <a:r>
              <a:rPr lang="en-US" dirty="0" smtClean="0"/>
              <a:t>Writing </a:t>
            </a:r>
            <a:r>
              <a:rPr lang="en-US" dirty="0"/>
              <a:t>requirements specifications, creating analysis models, and prioritizing </a:t>
            </a:r>
            <a:r>
              <a:rPr lang="en-US" dirty="0" smtClean="0"/>
              <a:t>requirements</a:t>
            </a:r>
          </a:p>
          <a:p>
            <a:r>
              <a:rPr lang="en-US" dirty="0" smtClean="0"/>
              <a:t>Creating </a:t>
            </a:r>
            <a:r>
              <a:rPr lang="en-US" dirty="0"/>
              <a:t>and evaluating prototypes intended to assist with requirements </a:t>
            </a:r>
            <a:r>
              <a:rPr lang="en-US" dirty="0" smtClean="0"/>
              <a:t>development</a:t>
            </a:r>
          </a:p>
          <a:p>
            <a:r>
              <a:rPr lang="en-US" dirty="0" smtClean="0"/>
              <a:t>Reviewing </a:t>
            </a:r>
            <a:r>
              <a:rPr lang="en-US" dirty="0"/>
              <a:t>requirements and performing other validation </a:t>
            </a:r>
            <a:r>
              <a:rPr lang="en-US" dirty="0" smtClean="0"/>
              <a:t>activities</a:t>
            </a:r>
          </a:p>
          <a:p>
            <a:r>
              <a:rPr lang="en-US" dirty="0"/>
              <a:t>Count the effort devoted to the following activities as requirements management effort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0719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Managing requirements on 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agile </a:t>
            </a:r>
            <a:r>
              <a:rPr lang="en-US"/>
              <a:t>projects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Agile projects accommodate change by building the product through a series of development iterations and managing a dynamic product backlog of work remaining to be done</a:t>
            </a:r>
          </a:p>
        </p:txBody>
      </p:sp>
    </p:spTree>
    <p:extLst>
      <p:ext uri="{BB962C8B-B14F-4D97-AF65-F5344CB8AC3E}">
        <p14:creationId xmlns:p14="http://schemas.microsoft.com/office/powerpoint/2010/main" val="81338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EB6DEE63-BE41-41AB-9512-0AD4948D9815}" vid="{C06A2116-4534-44AC-A79C-40D866AE0D36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41</TotalTime>
  <Words>376</Words>
  <Application>Microsoft Office PowerPoint</Application>
  <PresentationFormat>On-screen Show (4:3)</PresentationFormat>
  <Paragraphs>52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Myriad Pro</vt:lpstr>
      <vt:lpstr>Arial</vt:lpstr>
      <vt:lpstr>Calibri</vt:lpstr>
      <vt:lpstr>Wingdings 3</vt:lpstr>
      <vt:lpstr>Theme2</vt:lpstr>
      <vt:lpstr>Custom Design</vt:lpstr>
      <vt:lpstr>Chapter 27  Requirements management practices</vt:lpstr>
      <vt:lpstr>Objectives</vt:lpstr>
      <vt:lpstr> Contents </vt:lpstr>
      <vt:lpstr>Requirements management process </vt:lpstr>
      <vt:lpstr>Requirement attributes </vt:lpstr>
      <vt:lpstr>Tracking requirements status</vt:lpstr>
      <vt:lpstr>Resolving requirements issues </vt:lpstr>
      <vt:lpstr>Common types of  requirements issues </vt:lpstr>
      <vt:lpstr>Measuring requirements effort </vt:lpstr>
      <vt:lpstr>Managing requirements on  agile projects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27 Requirements management practices</dc:title>
  <dc:creator>Huong</dc:creator>
  <cp:lastModifiedBy>NhanDT2</cp:lastModifiedBy>
  <cp:revision>15</cp:revision>
  <dcterms:created xsi:type="dcterms:W3CDTF">2018-04-24T07:12:27Z</dcterms:created>
  <dcterms:modified xsi:type="dcterms:W3CDTF">2022-06-30T06:54:06Z</dcterms:modified>
</cp:coreProperties>
</file>